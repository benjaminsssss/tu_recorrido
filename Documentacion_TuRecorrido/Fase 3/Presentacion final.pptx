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Segment A Heavy" charset="1" panose="00000A00000000000000"/>
      <p:regular r:id="rId24"/>
    </p:embeddedFont>
    <p:embeddedFont>
      <p:font typeface="Tabarra Sans" charset="1" panose="00000000000000000000"/>
      <p:regular r:id="rId25"/>
    </p:embeddedFont>
    <p:embeddedFont>
      <p:font typeface="Tabarra Sans Bold" charset="1" panose="00000000000000000000"/>
      <p:regular r:id="rId26"/>
    </p:embeddedFont>
    <p:embeddedFont>
      <p:font typeface="Open Sans Bold" charset="1" panose="020B0806030504020204"/>
      <p:regular r:id="rId27"/>
    </p:embeddedFont>
    <p:embeddedFont>
      <p:font typeface="Open Sans" charset="1" panose="020B0606030504020204"/>
      <p:regular r:id="rId28"/>
    </p:embeddedFont>
    <p:embeddedFont>
      <p:font typeface="Montserrat Bold" charset="1" panose="00000800000000000000"/>
      <p:regular r:id="rId29"/>
    </p:embeddedFont>
    <p:embeddedFont>
      <p:font typeface="Garet" charset="1" panose="000000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jpe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44.jpeg" Type="http://schemas.openxmlformats.org/officeDocument/2006/relationships/image"/><Relationship Id="rId5" Target="../media/image4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svg" Type="http://schemas.openxmlformats.org/officeDocument/2006/relationships/image"/><Relationship Id="rId4" Target="../media/image5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73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3148" y="378080"/>
            <a:ext cx="17521704" cy="9530839"/>
            <a:chOff x="0" y="0"/>
            <a:chExt cx="4614770" cy="25101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14769" cy="2510180"/>
            </a:xfrm>
            <a:custGeom>
              <a:avLst/>
              <a:gdLst/>
              <a:ahLst/>
              <a:cxnLst/>
              <a:rect r="r" b="b" t="t" l="l"/>
              <a:pathLst>
                <a:path h="2510180" w="4614769">
                  <a:moveTo>
                    <a:pt x="22534" y="0"/>
                  </a:moveTo>
                  <a:lnTo>
                    <a:pt x="4592235" y="0"/>
                  </a:lnTo>
                  <a:cubicBezTo>
                    <a:pt x="4604681" y="0"/>
                    <a:pt x="4614769" y="10089"/>
                    <a:pt x="4614769" y="22534"/>
                  </a:cubicBezTo>
                  <a:lnTo>
                    <a:pt x="4614769" y="2487646"/>
                  </a:lnTo>
                  <a:cubicBezTo>
                    <a:pt x="4614769" y="2493622"/>
                    <a:pt x="4612395" y="2499354"/>
                    <a:pt x="4608169" y="2503580"/>
                  </a:cubicBezTo>
                  <a:cubicBezTo>
                    <a:pt x="4603943" y="2507806"/>
                    <a:pt x="4598212" y="2510180"/>
                    <a:pt x="4592235" y="2510180"/>
                  </a:cubicBezTo>
                  <a:lnTo>
                    <a:pt x="22534" y="2510180"/>
                  </a:lnTo>
                  <a:cubicBezTo>
                    <a:pt x="16558" y="2510180"/>
                    <a:pt x="10826" y="2507806"/>
                    <a:pt x="6600" y="2503580"/>
                  </a:cubicBezTo>
                  <a:cubicBezTo>
                    <a:pt x="2374" y="2499354"/>
                    <a:pt x="0" y="2493622"/>
                    <a:pt x="0" y="2487646"/>
                  </a:cubicBezTo>
                  <a:lnTo>
                    <a:pt x="0" y="22534"/>
                  </a:lnTo>
                  <a:cubicBezTo>
                    <a:pt x="0" y="16558"/>
                    <a:pt x="2374" y="10826"/>
                    <a:pt x="6600" y="6600"/>
                  </a:cubicBezTo>
                  <a:cubicBezTo>
                    <a:pt x="10826" y="2374"/>
                    <a:pt x="16558" y="0"/>
                    <a:pt x="22534" y="0"/>
                  </a:cubicBezTo>
                  <a:close/>
                </a:path>
              </a:pathLst>
            </a:custGeom>
            <a:solidFill>
              <a:srgbClr val="E9EF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614770" cy="2595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432893" y="2008024"/>
            <a:ext cx="5471959" cy="5417457"/>
          </a:xfrm>
          <a:custGeom>
            <a:avLst/>
            <a:gdLst/>
            <a:ahLst/>
            <a:cxnLst/>
            <a:rect r="r" b="b" t="t" l="l"/>
            <a:pathLst>
              <a:path h="5417457" w="5471959">
                <a:moveTo>
                  <a:pt x="0" y="0"/>
                </a:moveTo>
                <a:lnTo>
                  <a:pt x="5471959" y="0"/>
                </a:lnTo>
                <a:lnTo>
                  <a:pt x="5471959" y="5417457"/>
                </a:lnTo>
                <a:lnTo>
                  <a:pt x="0" y="5417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170654"/>
            <a:ext cx="5772994" cy="200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688"/>
              </a:lnSpc>
            </a:pPr>
            <a:r>
              <a:rPr lang="en-US" b="true" sz="18498">
                <a:solidFill>
                  <a:srgbClr val="1E1E1E"/>
                </a:solidFill>
                <a:latin typeface="Segment A Heavy"/>
                <a:ea typeface="Segment A Heavy"/>
                <a:cs typeface="Segment A Heavy"/>
                <a:sym typeface="Segment A Heavy"/>
              </a:rPr>
              <a:t>TU RECORRIDO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423859"/>
            <a:ext cx="9194624" cy="91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47"/>
              </a:lnSpc>
              <a:spcBef>
                <a:spcPct val="0"/>
              </a:spcBef>
            </a:pPr>
            <a:r>
              <a:rPr lang="en-US" sz="6287" spc="-547">
                <a:solidFill>
                  <a:srgbClr val="1E1E1E"/>
                </a:solidFill>
                <a:latin typeface="Tabarra Sans"/>
                <a:ea typeface="Tabarra Sans"/>
                <a:cs typeface="Tabarra Sans"/>
                <a:sym typeface="Tabarra Sans"/>
              </a:rPr>
              <a:t>Rutas culturales en Santiago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178849"/>
            <a:ext cx="5430328" cy="3082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477"/>
              </a:lnSpc>
            </a:pPr>
            <a:r>
              <a:rPr lang="en-US" sz="5192" b="true">
                <a:solidFill>
                  <a:srgbClr val="000000"/>
                </a:solidFill>
                <a:latin typeface="Tabarra Sans Bold"/>
                <a:ea typeface="Tabarra Sans Bold"/>
                <a:cs typeface="Tabarra Sans Bold"/>
                <a:sym typeface="Tabarra Sans Bold"/>
              </a:rPr>
              <a:t>Integrantes</a:t>
            </a:r>
          </a:p>
          <a:p>
            <a:pPr algn="just" marL="814990" indent="-407495" lvl="1">
              <a:lnSpc>
                <a:spcPts val="5435"/>
              </a:lnSpc>
              <a:buFont typeface="Arial"/>
              <a:buChar char="•"/>
            </a:pPr>
            <a:r>
              <a:rPr lang="en-US" b="true" sz="3774">
                <a:solidFill>
                  <a:srgbClr val="000000"/>
                </a:solidFill>
                <a:latin typeface="Tabarra Sans Bold"/>
                <a:ea typeface="Tabarra Sans Bold"/>
                <a:cs typeface="Tabarra Sans Bold"/>
                <a:sym typeface="Tabarra Sans Bold"/>
              </a:rPr>
              <a:t>Nicolás Cares</a:t>
            </a:r>
          </a:p>
          <a:p>
            <a:pPr algn="just" marL="814990" indent="-407495" lvl="1">
              <a:lnSpc>
                <a:spcPts val="5435"/>
              </a:lnSpc>
              <a:buFont typeface="Arial"/>
              <a:buChar char="•"/>
            </a:pPr>
            <a:r>
              <a:rPr lang="en-US" b="true" sz="3774">
                <a:solidFill>
                  <a:srgbClr val="000000"/>
                </a:solidFill>
                <a:latin typeface="Tabarra Sans Bold"/>
                <a:ea typeface="Tabarra Sans Bold"/>
                <a:cs typeface="Tabarra Sans Bold"/>
                <a:sym typeface="Tabarra Sans Bold"/>
              </a:rPr>
              <a:t>Andrés Fernández </a:t>
            </a:r>
          </a:p>
          <a:p>
            <a:pPr algn="just" marL="814990" indent="-407495" lvl="1">
              <a:lnSpc>
                <a:spcPts val="5435"/>
              </a:lnSpc>
              <a:buFont typeface="Arial"/>
              <a:buChar char="•"/>
            </a:pPr>
            <a:r>
              <a:rPr lang="en-US" b="true" sz="3774">
                <a:solidFill>
                  <a:srgbClr val="000000"/>
                </a:solidFill>
                <a:latin typeface="Tabarra Sans Bold"/>
                <a:ea typeface="Tabarra Sans Bold"/>
                <a:cs typeface="Tabarra Sans Bold"/>
                <a:sym typeface="Tabarra Sans Bold"/>
              </a:rPr>
              <a:t>Benjamín Marín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73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5739" y="411845"/>
            <a:ext cx="17116523" cy="9463309"/>
            <a:chOff x="0" y="0"/>
            <a:chExt cx="4508055" cy="24923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08055" cy="2492394"/>
            </a:xfrm>
            <a:custGeom>
              <a:avLst/>
              <a:gdLst/>
              <a:ahLst/>
              <a:cxnLst/>
              <a:rect r="r" b="b" t="t" l="l"/>
              <a:pathLst>
                <a:path h="2492394" w="4508055">
                  <a:moveTo>
                    <a:pt x="23068" y="0"/>
                  </a:moveTo>
                  <a:lnTo>
                    <a:pt x="4484988" y="0"/>
                  </a:lnTo>
                  <a:cubicBezTo>
                    <a:pt x="4491106" y="0"/>
                    <a:pt x="4496973" y="2430"/>
                    <a:pt x="4501299" y="6756"/>
                  </a:cubicBezTo>
                  <a:cubicBezTo>
                    <a:pt x="4505625" y="11082"/>
                    <a:pt x="4508055" y="16950"/>
                    <a:pt x="4508055" y="23068"/>
                  </a:cubicBezTo>
                  <a:lnTo>
                    <a:pt x="4508055" y="2469327"/>
                  </a:lnTo>
                  <a:cubicBezTo>
                    <a:pt x="4508055" y="2482067"/>
                    <a:pt x="4497728" y="2492394"/>
                    <a:pt x="4484988" y="2492394"/>
                  </a:cubicBezTo>
                  <a:lnTo>
                    <a:pt x="23068" y="2492394"/>
                  </a:lnTo>
                  <a:cubicBezTo>
                    <a:pt x="10328" y="2492394"/>
                    <a:pt x="0" y="2482067"/>
                    <a:pt x="0" y="2469327"/>
                  </a:cubicBezTo>
                  <a:lnTo>
                    <a:pt x="0" y="23068"/>
                  </a:lnTo>
                  <a:cubicBezTo>
                    <a:pt x="0" y="10328"/>
                    <a:pt x="10328" y="0"/>
                    <a:pt x="230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508055" cy="2578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56844" y="706109"/>
            <a:ext cx="6849016" cy="1078975"/>
            <a:chOff x="0" y="0"/>
            <a:chExt cx="2579707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79706" cy="406400"/>
            </a:xfrm>
            <a:custGeom>
              <a:avLst/>
              <a:gdLst/>
              <a:ahLst/>
              <a:cxnLst/>
              <a:rect r="r" b="b" t="t" l="l"/>
              <a:pathLst>
                <a:path h="406400" w="2579706">
                  <a:moveTo>
                    <a:pt x="2376506" y="0"/>
                  </a:moveTo>
                  <a:cubicBezTo>
                    <a:pt x="2488731" y="0"/>
                    <a:pt x="2579706" y="90976"/>
                    <a:pt x="2579706" y="203200"/>
                  </a:cubicBezTo>
                  <a:cubicBezTo>
                    <a:pt x="2579706" y="315424"/>
                    <a:pt x="2488731" y="406400"/>
                    <a:pt x="237650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CDFD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579707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92949" y="2440380"/>
            <a:ext cx="3622463" cy="6445835"/>
            <a:chOff x="0" y="0"/>
            <a:chExt cx="954064" cy="16976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4064" cy="1697668"/>
            </a:xfrm>
            <a:custGeom>
              <a:avLst/>
              <a:gdLst/>
              <a:ahLst/>
              <a:cxnLst/>
              <a:rect r="r" b="b" t="t" l="l"/>
              <a:pathLst>
                <a:path h="1697668" w="954064">
                  <a:moveTo>
                    <a:pt x="108997" y="0"/>
                  </a:moveTo>
                  <a:lnTo>
                    <a:pt x="845067" y="0"/>
                  </a:lnTo>
                  <a:cubicBezTo>
                    <a:pt x="905265" y="0"/>
                    <a:pt x="954064" y="48800"/>
                    <a:pt x="954064" y="108997"/>
                  </a:cubicBezTo>
                  <a:lnTo>
                    <a:pt x="954064" y="1588671"/>
                  </a:lnTo>
                  <a:cubicBezTo>
                    <a:pt x="954064" y="1648869"/>
                    <a:pt x="905265" y="1697668"/>
                    <a:pt x="845067" y="1697668"/>
                  </a:cubicBezTo>
                  <a:lnTo>
                    <a:pt x="108997" y="1697668"/>
                  </a:lnTo>
                  <a:cubicBezTo>
                    <a:pt x="48800" y="1697668"/>
                    <a:pt x="0" y="1648869"/>
                    <a:pt x="0" y="1588671"/>
                  </a:cubicBezTo>
                  <a:lnTo>
                    <a:pt x="0" y="108997"/>
                  </a:lnTo>
                  <a:cubicBezTo>
                    <a:pt x="0" y="48800"/>
                    <a:pt x="48800" y="0"/>
                    <a:pt x="108997" y="0"/>
                  </a:cubicBezTo>
                  <a:close/>
                </a:path>
              </a:pathLst>
            </a:custGeom>
            <a:solidFill>
              <a:srgbClr val="E9EFEB"/>
            </a:solidFill>
            <a:ln w="38100" cap="rnd">
              <a:solidFill>
                <a:srgbClr val="FFD065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954064" cy="17833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250767" y="2621124"/>
            <a:ext cx="4967288" cy="6892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-Contexto.</a:t>
            </a:r>
          </a:p>
          <a:p>
            <a:pPr algn="l">
              <a:lnSpc>
                <a:spcPts val="3927"/>
              </a:lnSpc>
            </a:pPr>
          </a:p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-Oportunidad.</a:t>
            </a:r>
          </a:p>
          <a:p>
            <a:pPr algn="l">
              <a:lnSpc>
                <a:spcPts val="3927"/>
              </a:lnSpc>
            </a:pPr>
          </a:p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-Solución.</a:t>
            </a:r>
          </a:p>
          <a:p>
            <a:pPr algn="l">
              <a:lnSpc>
                <a:spcPts val="3927"/>
              </a:lnSpc>
            </a:pPr>
          </a:p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-Objetivo.</a:t>
            </a:r>
          </a:p>
          <a:p>
            <a:pPr algn="l">
              <a:lnSpc>
                <a:spcPts val="3927"/>
              </a:lnSpc>
            </a:pPr>
          </a:p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-Visión.</a:t>
            </a:r>
          </a:p>
          <a:p>
            <a:pPr algn="l">
              <a:lnSpc>
                <a:spcPts val="3927"/>
              </a:lnSpc>
            </a:pPr>
          </a:p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-Tecnologías</a:t>
            </a:r>
          </a:p>
          <a:p>
            <a:pPr algn="l">
              <a:lnSpc>
                <a:spcPts val="3927"/>
              </a:lnSpc>
            </a:pPr>
            <a:r>
              <a:rPr lang="en-US" sz="280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usadas.</a:t>
            </a:r>
          </a:p>
          <a:p>
            <a:pPr algn="l">
              <a:lnSpc>
                <a:spcPts val="3927"/>
              </a:lnSpc>
            </a:pPr>
          </a:p>
          <a:p>
            <a:pPr algn="l">
              <a:lnSpc>
                <a:spcPts val="3927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9669251" y="2440380"/>
            <a:ext cx="3425477" cy="6445835"/>
            <a:chOff x="0" y="0"/>
            <a:chExt cx="902183" cy="16976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02183" cy="1697668"/>
            </a:xfrm>
            <a:custGeom>
              <a:avLst/>
              <a:gdLst/>
              <a:ahLst/>
              <a:cxnLst/>
              <a:rect r="r" b="b" t="t" l="l"/>
              <a:pathLst>
                <a:path h="1697668" w="902183">
                  <a:moveTo>
                    <a:pt x="115265" y="0"/>
                  </a:moveTo>
                  <a:lnTo>
                    <a:pt x="786918" y="0"/>
                  </a:lnTo>
                  <a:cubicBezTo>
                    <a:pt x="850577" y="0"/>
                    <a:pt x="902183" y="51606"/>
                    <a:pt x="902183" y="115265"/>
                  </a:cubicBezTo>
                  <a:lnTo>
                    <a:pt x="902183" y="1582403"/>
                  </a:lnTo>
                  <a:cubicBezTo>
                    <a:pt x="902183" y="1612974"/>
                    <a:pt x="890039" y="1642292"/>
                    <a:pt x="868423" y="1663908"/>
                  </a:cubicBezTo>
                  <a:cubicBezTo>
                    <a:pt x="846806" y="1685524"/>
                    <a:pt x="817488" y="1697668"/>
                    <a:pt x="786918" y="1697668"/>
                  </a:cubicBezTo>
                  <a:lnTo>
                    <a:pt x="115265" y="1697668"/>
                  </a:lnTo>
                  <a:cubicBezTo>
                    <a:pt x="51606" y="1697668"/>
                    <a:pt x="0" y="1646063"/>
                    <a:pt x="0" y="1582403"/>
                  </a:cubicBezTo>
                  <a:lnTo>
                    <a:pt x="0" y="115265"/>
                  </a:lnTo>
                  <a:cubicBezTo>
                    <a:pt x="0" y="51606"/>
                    <a:pt x="51606" y="0"/>
                    <a:pt x="115265" y="0"/>
                  </a:cubicBezTo>
                  <a:close/>
                </a:path>
              </a:pathLst>
            </a:custGeom>
            <a:solidFill>
              <a:srgbClr val="E9EFEB"/>
            </a:solidFill>
            <a:ln w="38100" cap="rnd">
              <a:solidFill>
                <a:srgbClr val="FFD065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902183" cy="17833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5608898" y="507528"/>
            <a:ext cx="1932852" cy="1932852"/>
          </a:xfrm>
          <a:custGeom>
            <a:avLst/>
            <a:gdLst/>
            <a:ahLst/>
            <a:cxnLst/>
            <a:rect r="r" b="b" t="t" l="l"/>
            <a:pathLst>
              <a:path h="1932852" w="1932852">
                <a:moveTo>
                  <a:pt x="0" y="0"/>
                </a:moveTo>
                <a:lnTo>
                  <a:pt x="1932852" y="0"/>
                </a:lnTo>
                <a:lnTo>
                  <a:pt x="1932852" y="1932852"/>
                </a:lnTo>
                <a:lnTo>
                  <a:pt x="0" y="19328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675717" y="739501"/>
            <a:ext cx="6476018" cy="840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000000"/>
                </a:solidFill>
                <a:latin typeface="Tabarra Sans"/>
                <a:ea typeface="Tabarra Sans"/>
                <a:cs typeface="Tabarra Sans"/>
                <a:sym typeface="Tabarra Sans"/>
              </a:rPr>
              <a:t>Indice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18055" y="1670784"/>
            <a:ext cx="2394228" cy="6603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9"/>
              </a:lnSpc>
              <a:spcBef>
                <a:spcPct val="0"/>
              </a:spcBef>
            </a:pPr>
          </a:p>
          <a:p>
            <a:pPr algn="l">
              <a:lnSpc>
                <a:spcPts val="4039"/>
              </a:lnSpc>
              <a:spcBef>
                <a:spcPct val="0"/>
              </a:spcBef>
            </a:pPr>
          </a:p>
          <a:p>
            <a:pPr algn="l">
              <a:lnSpc>
                <a:spcPts val="4039"/>
              </a:lnSpc>
              <a:spcBef>
                <a:spcPct val="0"/>
              </a:spcBef>
            </a:pPr>
            <a:r>
              <a:rPr lang="en-US" b="true" sz="2885">
                <a:solidFill>
                  <a:srgbClr val="000000"/>
                </a:solidFill>
                <a:latin typeface="Tabarra Sans Bold"/>
                <a:ea typeface="Tabarra Sans Bold"/>
                <a:cs typeface="Tabarra Sans Bold"/>
                <a:sym typeface="Tabarra Sans Bold"/>
              </a:rPr>
              <a:t>-Roles.</a:t>
            </a:r>
          </a:p>
          <a:p>
            <a:pPr algn="l">
              <a:lnSpc>
                <a:spcPts val="4039"/>
              </a:lnSpc>
              <a:spcBef>
                <a:spcPct val="0"/>
              </a:spcBef>
            </a:pPr>
          </a:p>
          <a:p>
            <a:pPr algn="l">
              <a:lnSpc>
                <a:spcPts val="4039"/>
              </a:lnSpc>
              <a:spcBef>
                <a:spcPct val="0"/>
              </a:spcBef>
            </a:pPr>
            <a:r>
              <a:rPr lang="en-US" b="true" sz="2885">
                <a:solidFill>
                  <a:srgbClr val="000000"/>
                </a:solidFill>
                <a:latin typeface="Tabarra Sans Bold"/>
                <a:ea typeface="Tabarra Sans Bold"/>
                <a:cs typeface="Tabarra Sans Bold"/>
                <a:sym typeface="Tabarra Sans Bold"/>
              </a:rPr>
              <a:t>-Roadmap.</a:t>
            </a:r>
          </a:p>
          <a:p>
            <a:pPr algn="l">
              <a:lnSpc>
                <a:spcPts val="4039"/>
              </a:lnSpc>
              <a:spcBef>
                <a:spcPct val="0"/>
              </a:spcBef>
            </a:pPr>
          </a:p>
          <a:p>
            <a:pPr algn="l">
              <a:lnSpc>
                <a:spcPts val="4039"/>
              </a:lnSpc>
              <a:spcBef>
                <a:spcPct val="0"/>
              </a:spcBef>
            </a:pPr>
            <a:r>
              <a:rPr lang="en-US" b="true" sz="2885">
                <a:solidFill>
                  <a:srgbClr val="000000"/>
                </a:solidFill>
                <a:latin typeface="Tabarra Sans Bold"/>
                <a:ea typeface="Tabarra Sans Bold"/>
                <a:cs typeface="Tabarra Sans Bold"/>
                <a:sym typeface="Tabarra Sans Bold"/>
              </a:rPr>
              <a:t>-Arquitectura.</a:t>
            </a:r>
          </a:p>
          <a:p>
            <a:pPr algn="l">
              <a:lnSpc>
                <a:spcPts val="4039"/>
              </a:lnSpc>
              <a:spcBef>
                <a:spcPct val="0"/>
              </a:spcBef>
            </a:pPr>
          </a:p>
          <a:p>
            <a:pPr algn="l">
              <a:lnSpc>
                <a:spcPts val="4039"/>
              </a:lnSpc>
              <a:spcBef>
                <a:spcPct val="0"/>
              </a:spcBef>
            </a:pPr>
            <a:r>
              <a:rPr lang="en-US" b="true" sz="2885">
                <a:solidFill>
                  <a:srgbClr val="000000"/>
                </a:solidFill>
                <a:latin typeface="Tabarra Sans Bold"/>
                <a:ea typeface="Tabarra Sans Bold"/>
                <a:cs typeface="Tabarra Sans Bold"/>
                <a:sym typeface="Tabarra Sans Bold"/>
              </a:rPr>
              <a:t>-Demo.</a:t>
            </a:r>
          </a:p>
          <a:p>
            <a:pPr algn="l">
              <a:lnSpc>
                <a:spcPts val="4039"/>
              </a:lnSpc>
              <a:spcBef>
                <a:spcPct val="0"/>
              </a:spcBef>
            </a:pPr>
          </a:p>
          <a:p>
            <a:pPr algn="l">
              <a:lnSpc>
                <a:spcPts val="4039"/>
              </a:lnSpc>
              <a:spcBef>
                <a:spcPct val="0"/>
              </a:spcBef>
            </a:pPr>
            <a:r>
              <a:rPr lang="en-US" b="true" sz="2885">
                <a:solidFill>
                  <a:srgbClr val="000000"/>
                </a:solidFill>
                <a:latin typeface="Tabarra Sans Bold"/>
                <a:ea typeface="Tabarra Sans Bold"/>
                <a:cs typeface="Tabarra Sans Bold"/>
                <a:sym typeface="Tabarra Sans Bold"/>
              </a:rPr>
              <a:t>-Conclusión.</a:t>
            </a:r>
          </a:p>
          <a:p>
            <a:pPr algn="l">
              <a:lnSpc>
                <a:spcPts val="4039"/>
              </a:lnSpc>
              <a:spcBef>
                <a:spcPct val="0"/>
              </a:spcBef>
            </a:pPr>
          </a:p>
          <a:p>
            <a:pPr algn="l">
              <a:lnSpc>
                <a:spcPts val="4039"/>
              </a:lnSpc>
              <a:spcBef>
                <a:spcPct val="0"/>
              </a:spcBef>
            </a:pPr>
            <a:r>
              <a:rPr lang="en-US" b="true" sz="2885">
                <a:solidFill>
                  <a:srgbClr val="000000"/>
                </a:solidFill>
                <a:latin typeface="Tabarra Sans Bold"/>
                <a:ea typeface="Tabarra Sans Bold"/>
                <a:cs typeface="Tabarra Sans Bold"/>
                <a:sym typeface="Tabarra Sans Bold"/>
              </a:rPr>
              <a:t>-Preguntas.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73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9846" y="292969"/>
            <a:ext cx="17477832" cy="9701062"/>
            <a:chOff x="0" y="0"/>
            <a:chExt cx="966975" cy="53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6975" cy="536719"/>
            </a:xfrm>
            <a:custGeom>
              <a:avLst/>
              <a:gdLst/>
              <a:ahLst/>
              <a:cxnLst/>
              <a:rect r="r" b="b" t="t" l="l"/>
              <a:pathLst>
                <a:path h="536719" w="966975">
                  <a:moveTo>
                    <a:pt x="22494" y="0"/>
                  </a:moveTo>
                  <a:lnTo>
                    <a:pt x="944481" y="0"/>
                  </a:lnTo>
                  <a:cubicBezTo>
                    <a:pt x="950447" y="0"/>
                    <a:pt x="956168" y="2370"/>
                    <a:pt x="960386" y="6588"/>
                  </a:cubicBezTo>
                  <a:cubicBezTo>
                    <a:pt x="964605" y="10807"/>
                    <a:pt x="966975" y="16528"/>
                    <a:pt x="966975" y="22494"/>
                  </a:cubicBezTo>
                  <a:lnTo>
                    <a:pt x="966975" y="514225"/>
                  </a:lnTo>
                  <a:cubicBezTo>
                    <a:pt x="966975" y="520191"/>
                    <a:pt x="964605" y="525912"/>
                    <a:pt x="960386" y="530131"/>
                  </a:cubicBezTo>
                  <a:cubicBezTo>
                    <a:pt x="956168" y="534349"/>
                    <a:pt x="950447" y="536719"/>
                    <a:pt x="944481" y="536719"/>
                  </a:cubicBezTo>
                  <a:lnTo>
                    <a:pt x="22494" y="536719"/>
                  </a:lnTo>
                  <a:cubicBezTo>
                    <a:pt x="16528" y="536719"/>
                    <a:pt x="10807" y="534349"/>
                    <a:pt x="6588" y="530131"/>
                  </a:cubicBezTo>
                  <a:cubicBezTo>
                    <a:pt x="2370" y="525912"/>
                    <a:pt x="0" y="520191"/>
                    <a:pt x="0" y="514225"/>
                  </a:cubicBezTo>
                  <a:lnTo>
                    <a:pt x="0" y="22494"/>
                  </a:lnTo>
                  <a:cubicBezTo>
                    <a:pt x="0" y="16528"/>
                    <a:pt x="2370" y="10807"/>
                    <a:pt x="6588" y="6588"/>
                  </a:cubicBezTo>
                  <a:cubicBezTo>
                    <a:pt x="10807" y="2370"/>
                    <a:pt x="16528" y="0"/>
                    <a:pt x="2249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966975" cy="622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302084" y="491432"/>
            <a:ext cx="6936565" cy="1078975"/>
            <a:chOff x="0" y="0"/>
            <a:chExt cx="2612682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12682" cy="406400"/>
            </a:xfrm>
            <a:custGeom>
              <a:avLst/>
              <a:gdLst/>
              <a:ahLst/>
              <a:cxnLst/>
              <a:rect r="r" b="b" t="t" l="l"/>
              <a:pathLst>
                <a:path h="406400" w="2612682">
                  <a:moveTo>
                    <a:pt x="2409482" y="0"/>
                  </a:moveTo>
                  <a:cubicBezTo>
                    <a:pt x="2521707" y="0"/>
                    <a:pt x="2612682" y="90976"/>
                    <a:pt x="2612682" y="203200"/>
                  </a:cubicBezTo>
                  <a:cubicBezTo>
                    <a:pt x="2612682" y="315424"/>
                    <a:pt x="2521707" y="406400"/>
                    <a:pt x="240948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CDFD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261268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85925" y="7284513"/>
            <a:ext cx="3457218" cy="997750"/>
            <a:chOff x="0" y="0"/>
            <a:chExt cx="1354605" cy="3909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54605" cy="390938"/>
            </a:xfrm>
            <a:custGeom>
              <a:avLst/>
              <a:gdLst/>
              <a:ahLst/>
              <a:cxnLst/>
              <a:rect r="r" b="b" t="t" l="l"/>
              <a:pathLst>
                <a:path h="390938" w="1354605">
                  <a:moveTo>
                    <a:pt x="113717" y="0"/>
                  </a:moveTo>
                  <a:lnTo>
                    <a:pt x="1240888" y="0"/>
                  </a:lnTo>
                  <a:cubicBezTo>
                    <a:pt x="1271048" y="0"/>
                    <a:pt x="1299972" y="11981"/>
                    <a:pt x="1321298" y="33307"/>
                  </a:cubicBezTo>
                  <a:cubicBezTo>
                    <a:pt x="1342624" y="54633"/>
                    <a:pt x="1354605" y="83557"/>
                    <a:pt x="1354605" y="113717"/>
                  </a:cubicBezTo>
                  <a:lnTo>
                    <a:pt x="1354605" y="277221"/>
                  </a:lnTo>
                  <a:cubicBezTo>
                    <a:pt x="1354605" y="307380"/>
                    <a:pt x="1342624" y="336305"/>
                    <a:pt x="1321298" y="357631"/>
                  </a:cubicBezTo>
                  <a:cubicBezTo>
                    <a:pt x="1299972" y="378957"/>
                    <a:pt x="1271048" y="390938"/>
                    <a:pt x="1240888" y="390938"/>
                  </a:cubicBezTo>
                  <a:lnTo>
                    <a:pt x="113717" y="390938"/>
                  </a:lnTo>
                  <a:cubicBezTo>
                    <a:pt x="83557" y="390938"/>
                    <a:pt x="54633" y="378957"/>
                    <a:pt x="33307" y="357631"/>
                  </a:cubicBezTo>
                  <a:cubicBezTo>
                    <a:pt x="11981" y="336305"/>
                    <a:pt x="0" y="307380"/>
                    <a:pt x="0" y="277221"/>
                  </a:cubicBezTo>
                  <a:lnTo>
                    <a:pt x="0" y="113717"/>
                  </a:lnTo>
                  <a:cubicBezTo>
                    <a:pt x="0" y="83557"/>
                    <a:pt x="11981" y="54633"/>
                    <a:pt x="33307" y="33307"/>
                  </a:cubicBezTo>
                  <a:cubicBezTo>
                    <a:pt x="54633" y="11981"/>
                    <a:pt x="83557" y="0"/>
                    <a:pt x="11371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1354605" cy="476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931630" y="7083411"/>
            <a:ext cx="3500993" cy="997750"/>
            <a:chOff x="0" y="0"/>
            <a:chExt cx="1371757" cy="3909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1757" cy="390938"/>
            </a:xfrm>
            <a:custGeom>
              <a:avLst/>
              <a:gdLst/>
              <a:ahLst/>
              <a:cxnLst/>
              <a:rect r="r" b="b" t="t" l="l"/>
              <a:pathLst>
                <a:path h="390938" w="1371757">
                  <a:moveTo>
                    <a:pt x="112295" y="0"/>
                  </a:moveTo>
                  <a:lnTo>
                    <a:pt x="1259462" y="0"/>
                  </a:lnTo>
                  <a:cubicBezTo>
                    <a:pt x="1289244" y="0"/>
                    <a:pt x="1317807" y="11831"/>
                    <a:pt x="1338866" y="32890"/>
                  </a:cubicBezTo>
                  <a:cubicBezTo>
                    <a:pt x="1359926" y="53950"/>
                    <a:pt x="1371757" y="82513"/>
                    <a:pt x="1371757" y="112295"/>
                  </a:cubicBezTo>
                  <a:lnTo>
                    <a:pt x="1371757" y="278643"/>
                  </a:lnTo>
                  <a:cubicBezTo>
                    <a:pt x="1371757" y="308425"/>
                    <a:pt x="1359926" y="336988"/>
                    <a:pt x="1338866" y="358047"/>
                  </a:cubicBezTo>
                  <a:cubicBezTo>
                    <a:pt x="1317807" y="379107"/>
                    <a:pt x="1289244" y="390938"/>
                    <a:pt x="1259462" y="390938"/>
                  </a:cubicBezTo>
                  <a:lnTo>
                    <a:pt x="112295" y="390938"/>
                  </a:lnTo>
                  <a:cubicBezTo>
                    <a:pt x="82513" y="390938"/>
                    <a:pt x="53950" y="379107"/>
                    <a:pt x="32890" y="358047"/>
                  </a:cubicBezTo>
                  <a:cubicBezTo>
                    <a:pt x="11831" y="336988"/>
                    <a:pt x="0" y="308425"/>
                    <a:pt x="0" y="278643"/>
                  </a:cubicBezTo>
                  <a:lnTo>
                    <a:pt x="0" y="112295"/>
                  </a:lnTo>
                  <a:cubicBezTo>
                    <a:pt x="0" y="82513"/>
                    <a:pt x="11831" y="53950"/>
                    <a:pt x="32890" y="32890"/>
                  </a:cubicBezTo>
                  <a:cubicBezTo>
                    <a:pt x="53950" y="11831"/>
                    <a:pt x="82513" y="0"/>
                    <a:pt x="1122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1371757" cy="476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674665" y="6458299"/>
            <a:ext cx="5715387" cy="2467701"/>
            <a:chOff x="0" y="0"/>
            <a:chExt cx="970668" cy="419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0668" cy="419100"/>
            </a:xfrm>
            <a:custGeom>
              <a:avLst/>
              <a:gdLst/>
              <a:ahLst/>
              <a:cxnLst/>
              <a:rect r="r" b="b" t="t" l="l"/>
              <a:pathLst>
                <a:path h="419100" w="970668">
                  <a:moveTo>
                    <a:pt x="26457" y="0"/>
                  </a:moveTo>
                  <a:lnTo>
                    <a:pt x="944212" y="0"/>
                  </a:lnTo>
                  <a:cubicBezTo>
                    <a:pt x="958823" y="0"/>
                    <a:pt x="970668" y="11845"/>
                    <a:pt x="970668" y="26457"/>
                  </a:cubicBezTo>
                  <a:lnTo>
                    <a:pt x="970668" y="392643"/>
                  </a:lnTo>
                  <a:cubicBezTo>
                    <a:pt x="970668" y="407255"/>
                    <a:pt x="958823" y="419100"/>
                    <a:pt x="944212" y="419100"/>
                  </a:cubicBezTo>
                  <a:lnTo>
                    <a:pt x="26457" y="419100"/>
                  </a:lnTo>
                  <a:cubicBezTo>
                    <a:pt x="11845" y="419100"/>
                    <a:pt x="0" y="407255"/>
                    <a:pt x="0" y="392643"/>
                  </a:cubicBezTo>
                  <a:lnTo>
                    <a:pt x="0" y="26457"/>
                  </a:lnTo>
                  <a:cubicBezTo>
                    <a:pt x="0" y="11845"/>
                    <a:pt x="11845" y="0"/>
                    <a:pt x="26457" y="0"/>
                  </a:cubicBezTo>
                  <a:close/>
                </a:path>
              </a:pathLst>
            </a:custGeom>
            <a:solidFill>
              <a:srgbClr val="E9EFE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970668" cy="504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581667" y="6422503"/>
            <a:ext cx="6142020" cy="2467701"/>
            <a:chOff x="0" y="0"/>
            <a:chExt cx="970668" cy="38998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0668" cy="389989"/>
            </a:xfrm>
            <a:custGeom>
              <a:avLst/>
              <a:gdLst/>
              <a:ahLst/>
              <a:cxnLst/>
              <a:rect r="r" b="b" t="t" l="l"/>
              <a:pathLst>
                <a:path h="389989" w="970668">
                  <a:moveTo>
                    <a:pt x="24619" y="0"/>
                  </a:moveTo>
                  <a:lnTo>
                    <a:pt x="946049" y="0"/>
                  </a:lnTo>
                  <a:cubicBezTo>
                    <a:pt x="959646" y="0"/>
                    <a:pt x="970668" y="11022"/>
                    <a:pt x="970668" y="24619"/>
                  </a:cubicBezTo>
                  <a:lnTo>
                    <a:pt x="970668" y="365370"/>
                  </a:lnTo>
                  <a:cubicBezTo>
                    <a:pt x="970668" y="378967"/>
                    <a:pt x="959646" y="389989"/>
                    <a:pt x="946049" y="389989"/>
                  </a:cubicBezTo>
                  <a:lnTo>
                    <a:pt x="24619" y="389989"/>
                  </a:lnTo>
                  <a:cubicBezTo>
                    <a:pt x="11022" y="389989"/>
                    <a:pt x="0" y="378967"/>
                    <a:pt x="0" y="365370"/>
                  </a:cubicBezTo>
                  <a:lnTo>
                    <a:pt x="0" y="24619"/>
                  </a:lnTo>
                  <a:cubicBezTo>
                    <a:pt x="0" y="11022"/>
                    <a:pt x="11022" y="0"/>
                    <a:pt x="24619" y="0"/>
                  </a:cubicBezTo>
                  <a:close/>
                </a:path>
              </a:pathLst>
            </a:custGeom>
            <a:solidFill>
              <a:srgbClr val="E9EFE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970668" cy="4757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5939496" y="453091"/>
            <a:ext cx="1793652" cy="1793652"/>
          </a:xfrm>
          <a:custGeom>
            <a:avLst/>
            <a:gdLst/>
            <a:ahLst/>
            <a:cxnLst/>
            <a:rect r="r" b="b" t="t" l="l"/>
            <a:pathLst>
              <a:path h="1793652" w="1793652">
                <a:moveTo>
                  <a:pt x="0" y="0"/>
                </a:moveTo>
                <a:lnTo>
                  <a:pt x="1793653" y="0"/>
                </a:lnTo>
                <a:lnTo>
                  <a:pt x="1793653" y="1793652"/>
                </a:lnTo>
                <a:lnTo>
                  <a:pt x="0" y="17936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532358" y="558217"/>
            <a:ext cx="6476018" cy="840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000000"/>
                </a:solidFill>
                <a:latin typeface="Tabarra Sans"/>
                <a:ea typeface="Tabarra Sans"/>
                <a:cs typeface="Tabarra Sans"/>
                <a:sym typeface="Tabarra Sans"/>
              </a:rPr>
              <a:t>Contexto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67130" y="1799007"/>
            <a:ext cx="11245674" cy="587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Desconexión Generacional con el Patrimonio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2547312" y="3053133"/>
            <a:ext cx="12885311" cy="1542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4"/>
              </a:lnSpc>
            </a:pPr>
            <a:r>
              <a:rPr lang="en-US" sz="294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Chile, en especial Santiago, </a:t>
            </a:r>
            <a:r>
              <a:rPr lang="en-US" sz="294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 una ciudad rica en historia y cultura. Sus patrimonios guardan historias de siglos, arquitectura única y valores compartidos.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40815" y="4958166"/>
            <a:ext cx="14596845" cy="930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5"/>
              </a:lnSpc>
            </a:pPr>
            <a:r>
              <a:rPr lang="en-US" sz="269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Pero existen dos problemas:</a:t>
            </a:r>
            <a:r>
              <a:rPr lang="en-US" sz="269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697" b="true">
                <a:solidFill>
                  <a:srgbClr val="DE080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mayoría de los santiaguino</a:t>
            </a:r>
            <a:r>
              <a:rPr lang="en-US" b="true" sz="2697">
                <a:solidFill>
                  <a:srgbClr val="DE080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 nunca los visita, y los turistas llegan desinformados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903314" y="6582124"/>
            <a:ext cx="2797540" cy="129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40"/>
              </a:lnSpc>
            </a:pPr>
            <a:r>
              <a:rPr lang="en-US" sz="7600" b="true">
                <a:solidFill>
                  <a:srgbClr val="DE080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95.3%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657852" y="7866194"/>
            <a:ext cx="5732200" cy="784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6"/>
              </a:lnSpc>
            </a:pPr>
            <a:r>
              <a:rPr lang="en-US" sz="2233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Caída d</a:t>
            </a:r>
            <a:r>
              <a:rPr lang="en-US" b="true" sz="223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 visitas en museos durante pandemia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45510" y="6582124"/>
            <a:ext cx="3073232" cy="129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40"/>
              </a:lnSpc>
            </a:pPr>
            <a:r>
              <a:rPr lang="en-US" b="true" sz="7600">
                <a:solidFill>
                  <a:srgbClr val="62B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+146%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786577" y="7986252"/>
            <a:ext cx="5732200" cy="387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6"/>
              </a:lnSpc>
            </a:pPr>
            <a:r>
              <a:rPr lang="en-US" sz="2233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Aumento d</a:t>
            </a:r>
            <a:r>
              <a:rPr lang="en-US" b="true" sz="223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 visitas en última década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73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622" y="325239"/>
            <a:ext cx="17635138" cy="9636521"/>
            <a:chOff x="0" y="0"/>
            <a:chExt cx="4644645" cy="25380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44646" cy="2538014"/>
            </a:xfrm>
            <a:custGeom>
              <a:avLst/>
              <a:gdLst/>
              <a:ahLst/>
              <a:cxnLst/>
              <a:rect r="r" b="b" t="t" l="l"/>
              <a:pathLst>
                <a:path h="2538014" w="4644646">
                  <a:moveTo>
                    <a:pt x="22389" y="0"/>
                  </a:moveTo>
                  <a:lnTo>
                    <a:pt x="4622256" y="0"/>
                  </a:lnTo>
                  <a:cubicBezTo>
                    <a:pt x="4634621" y="0"/>
                    <a:pt x="4644646" y="10024"/>
                    <a:pt x="4644646" y="22389"/>
                  </a:cubicBezTo>
                  <a:lnTo>
                    <a:pt x="4644646" y="2515625"/>
                  </a:lnTo>
                  <a:cubicBezTo>
                    <a:pt x="4644646" y="2527990"/>
                    <a:pt x="4634621" y="2538014"/>
                    <a:pt x="4622256" y="2538014"/>
                  </a:cubicBezTo>
                  <a:lnTo>
                    <a:pt x="22389" y="2538014"/>
                  </a:lnTo>
                  <a:cubicBezTo>
                    <a:pt x="10024" y="2538014"/>
                    <a:pt x="0" y="2527990"/>
                    <a:pt x="0" y="2515625"/>
                  </a:cubicBezTo>
                  <a:lnTo>
                    <a:pt x="0" y="22389"/>
                  </a:lnTo>
                  <a:cubicBezTo>
                    <a:pt x="0" y="10024"/>
                    <a:pt x="10024" y="0"/>
                    <a:pt x="223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644645" cy="2623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760503" y="325239"/>
            <a:ext cx="2021972" cy="2010621"/>
          </a:xfrm>
          <a:custGeom>
            <a:avLst/>
            <a:gdLst/>
            <a:ahLst/>
            <a:cxnLst/>
            <a:rect r="r" b="b" t="t" l="l"/>
            <a:pathLst>
              <a:path h="2010621" w="2021972">
                <a:moveTo>
                  <a:pt x="0" y="0"/>
                </a:moveTo>
                <a:lnTo>
                  <a:pt x="2021972" y="0"/>
                </a:lnTo>
                <a:lnTo>
                  <a:pt x="2021972" y="2010621"/>
                </a:lnTo>
                <a:lnTo>
                  <a:pt x="0" y="20106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70" t="-5559" r="-4966" b="-6104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613542"/>
            <a:ext cx="12307483" cy="830316"/>
            <a:chOff x="0" y="0"/>
            <a:chExt cx="6023922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23922" cy="406400"/>
            </a:xfrm>
            <a:custGeom>
              <a:avLst/>
              <a:gdLst/>
              <a:ahLst/>
              <a:cxnLst/>
              <a:rect r="r" b="b" t="t" l="l"/>
              <a:pathLst>
                <a:path h="406400" w="6023922">
                  <a:moveTo>
                    <a:pt x="5820722" y="0"/>
                  </a:moveTo>
                  <a:cubicBezTo>
                    <a:pt x="5932946" y="0"/>
                    <a:pt x="6023922" y="90976"/>
                    <a:pt x="6023922" y="203200"/>
                  </a:cubicBezTo>
                  <a:cubicBezTo>
                    <a:pt x="6023922" y="315424"/>
                    <a:pt x="5932946" y="406400"/>
                    <a:pt x="582072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5D9A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602392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646204" y="5265977"/>
            <a:ext cx="5187288" cy="1543050"/>
            <a:chOff x="0" y="0"/>
            <a:chExt cx="1366199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66199" cy="406400"/>
            </a:xfrm>
            <a:custGeom>
              <a:avLst/>
              <a:gdLst/>
              <a:ahLst/>
              <a:cxnLst/>
              <a:rect r="r" b="b" t="t" l="l"/>
              <a:pathLst>
                <a:path h="406400" w="1366199">
                  <a:moveTo>
                    <a:pt x="1162999" y="0"/>
                  </a:moveTo>
                  <a:cubicBezTo>
                    <a:pt x="1275224" y="0"/>
                    <a:pt x="1366199" y="90976"/>
                    <a:pt x="1366199" y="203200"/>
                  </a:cubicBezTo>
                  <a:cubicBezTo>
                    <a:pt x="1366199" y="315424"/>
                    <a:pt x="1275224" y="406400"/>
                    <a:pt x="116299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8E2E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04775"/>
              <a:ext cx="1366199" cy="51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80"/>
                </a:lnSpc>
              </a:pPr>
              <a:r>
                <a:rPr lang="en-US" sz="2700">
                  <a:solidFill>
                    <a:srgbClr val="000000"/>
                  </a:solidFill>
                  <a:latin typeface="Tabarra Sans"/>
                  <a:ea typeface="Tabarra Sans"/>
                  <a:cs typeface="Tabarra Sans"/>
                  <a:sym typeface="Tabarra Sans"/>
                </a:rPr>
                <a:t> </a:t>
              </a:r>
              <a:r>
                <a:rPr lang="en-US" sz="2700">
                  <a:solidFill>
                    <a:srgbClr val="000000"/>
                  </a:solidFill>
                  <a:latin typeface="Tabarra Sans"/>
                  <a:ea typeface="Tabarra Sans"/>
                  <a:cs typeface="Tabarra Sans"/>
                  <a:sym typeface="Tabarra Sans"/>
                </a:rPr>
                <a:t>📱Están siempre conectados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176106" y="5265977"/>
            <a:ext cx="3370636" cy="1543050"/>
            <a:chOff x="0" y="0"/>
            <a:chExt cx="887740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7740" cy="406400"/>
            </a:xfrm>
            <a:custGeom>
              <a:avLst/>
              <a:gdLst/>
              <a:ahLst/>
              <a:cxnLst/>
              <a:rect r="r" b="b" t="t" l="l"/>
              <a:pathLst>
                <a:path h="406400" w="887740">
                  <a:moveTo>
                    <a:pt x="684540" y="0"/>
                  </a:moveTo>
                  <a:cubicBezTo>
                    <a:pt x="796764" y="0"/>
                    <a:pt x="887740" y="90976"/>
                    <a:pt x="887740" y="203200"/>
                  </a:cubicBezTo>
                  <a:cubicBezTo>
                    <a:pt x="887740" y="315424"/>
                    <a:pt x="796764" y="406400"/>
                    <a:pt x="6845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2A9F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04775"/>
              <a:ext cx="887740" cy="51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80"/>
                </a:lnSpc>
              </a:pPr>
              <a:r>
                <a:rPr lang="en-US" sz="2700">
                  <a:solidFill>
                    <a:srgbClr val="000000"/>
                  </a:solidFill>
                  <a:latin typeface="Tabarra Sans"/>
                  <a:ea typeface="Tabarra Sans"/>
                  <a:cs typeface="Tabarra Sans"/>
                  <a:sym typeface="Tabarra Sans"/>
                </a:rPr>
                <a:t>👥 So</a:t>
              </a:r>
              <a:r>
                <a:rPr lang="en-US" sz="2700">
                  <a:solidFill>
                    <a:srgbClr val="000000"/>
                  </a:solidFill>
                  <a:latin typeface="Tabarra Sans"/>
                  <a:ea typeface="Tabarra Sans"/>
                  <a:cs typeface="Tabarra Sans"/>
                  <a:sym typeface="Tabarra Sans"/>
                </a:rPr>
                <a:t>n sociales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394286" y="7180502"/>
            <a:ext cx="5603149" cy="1543050"/>
            <a:chOff x="0" y="0"/>
            <a:chExt cx="1475726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75726" cy="406400"/>
            </a:xfrm>
            <a:custGeom>
              <a:avLst/>
              <a:gdLst/>
              <a:ahLst/>
              <a:cxnLst/>
              <a:rect r="r" b="b" t="t" l="l"/>
              <a:pathLst>
                <a:path h="406400" w="1475726">
                  <a:moveTo>
                    <a:pt x="1272526" y="0"/>
                  </a:moveTo>
                  <a:cubicBezTo>
                    <a:pt x="1384751" y="0"/>
                    <a:pt x="1475726" y="90976"/>
                    <a:pt x="1475726" y="203200"/>
                  </a:cubicBezTo>
                  <a:cubicBezTo>
                    <a:pt x="1475726" y="315424"/>
                    <a:pt x="1384751" y="406400"/>
                    <a:pt x="127252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04775"/>
              <a:ext cx="1475726" cy="51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80"/>
                </a:lnSpc>
              </a:pPr>
              <a:r>
                <a:rPr lang="en-US" sz="2700">
                  <a:solidFill>
                    <a:srgbClr val="000000"/>
                  </a:solidFill>
                  <a:latin typeface="Tabarra Sans"/>
                  <a:ea typeface="Tabarra Sans"/>
                  <a:cs typeface="Tabarra Sans"/>
                  <a:sym typeface="Tabarra Sans"/>
                </a:rPr>
                <a:t>🎯 Bu</a:t>
              </a:r>
              <a:r>
                <a:rPr lang="en-US" sz="2700">
                  <a:solidFill>
                    <a:srgbClr val="000000"/>
                  </a:solidFill>
                  <a:latin typeface="Tabarra Sans"/>
                  <a:ea typeface="Tabarra Sans"/>
                  <a:cs typeface="Tabarra Sans"/>
                  <a:sym typeface="Tabarra Sans"/>
                </a:rPr>
                <a:t>scan logros - les motivan los desafíos y reconocimientos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89867" y="7180502"/>
            <a:ext cx="3370636" cy="1543050"/>
            <a:chOff x="0" y="0"/>
            <a:chExt cx="887740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87740" cy="406400"/>
            </a:xfrm>
            <a:custGeom>
              <a:avLst/>
              <a:gdLst/>
              <a:ahLst/>
              <a:cxnLst/>
              <a:rect r="r" b="b" t="t" l="l"/>
              <a:pathLst>
                <a:path h="406400" w="887740">
                  <a:moveTo>
                    <a:pt x="684540" y="0"/>
                  </a:moveTo>
                  <a:cubicBezTo>
                    <a:pt x="796764" y="0"/>
                    <a:pt x="887740" y="90976"/>
                    <a:pt x="887740" y="203200"/>
                  </a:cubicBezTo>
                  <a:cubicBezTo>
                    <a:pt x="887740" y="315424"/>
                    <a:pt x="796764" y="406400"/>
                    <a:pt x="68454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04775"/>
              <a:ext cx="887740" cy="51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80"/>
                </a:lnSpc>
              </a:pPr>
              <a:r>
                <a:rPr lang="en-US" sz="2700">
                  <a:solidFill>
                    <a:srgbClr val="000000"/>
                  </a:solidFill>
                  <a:latin typeface="Tabarra Sans"/>
                  <a:ea typeface="Tabarra Sans"/>
                  <a:cs typeface="Tabarra Sans"/>
                  <a:sym typeface="Tabarra Sans"/>
                </a:rPr>
                <a:t>🗺️ So</a:t>
              </a:r>
              <a:r>
                <a:rPr lang="en-US" sz="2700">
                  <a:solidFill>
                    <a:srgbClr val="000000"/>
                  </a:solidFill>
                  <a:latin typeface="Tabarra Sans"/>
                  <a:ea typeface="Tabarra Sans"/>
                  <a:cs typeface="Tabarra Sans"/>
                  <a:sym typeface="Tabarra Sans"/>
                </a:rPr>
                <a:t>n exploradores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4224867" y="5123318"/>
            <a:ext cx="1353948" cy="3686493"/>
          </a:xfrm>
          <a:custGeom>
            <a:avLst/>
            <a:gdLst/>
            <a:ahLst/>
            <a:cxnLst/>
            <a:rect r="r" b="b" t="t" l="l"/>
            <a:pathLst>
              <a:path h="3686493" w="1353948">
                <a:moveTo>
                  <a:pt x="0" y="0"/>
                </a:moveTo>
                <a:lnTo>
                  <a:pt x="1353949" y="0"/>
                </a:lnTo>
                <a:lnTo>
                  <a:pt x="1353949" y="3686493"/>
                </a:lnTo>
                <a:lnTo>
                  <a:pt x="0" y="36864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0">
            <a:off x="1246222" y="6439409"/>
            <a:ext cx="739235" cy="739235"/>
          </a:xfrm>
          <a:custGeom>
            <a:avLst/>
            <a:gdLst/>
            <a:ahLst/>
            <a:cxnLst/>
            <a:rect r="r" b="b" t="t" l="l"/>
            <a:pathLst>
              <a:path h="739235" w="739235">
                <a:moveTo>
                  <a:pt x="739235" y="0"/>
                </a:moveTo>
                <a:lnTo>
                  <a:pt x="0" y="0"/>
                </a:lnTo>
                <a:lnTo>
                  <a:pt x="0" y="739235"/>
                </a:lnTo>
                <a:lnTo>
                  <a:pt x="739235" y="739235"/>
                </a:lnTo>
                <a:lnTo>
                  <a:pt x="73923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418735" y="662673"/>
            <a:ext cx="11381975" cy="608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3"/>
              </a:lnSpc>
              <a:spcBef>
                <a:spcPct val="0"/>
              </a:spcBef>
            </a:pPr>
            <a:r>
              <a:rPr lang="en-US" sz="3202">
                <a:solidFill>
                  <a:srgbClr val="000000"/>
                </a:solidFill>
                <a:latin typeface="Tabarra Sans"/>
                <a:ea typeface="Tabarra Sans"/>
                <a:cs typeface="Tabarra Sans"/>
                <a:sym typeface="Tabarra Sans"/>
              </a:rPr>
              <a:t>Oportunidad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1727247"/>
            <a:ext cx="10147406" cy="843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08"/>
              </a:lnSpc>
            </a:pPr>
            <a:r>
              <a:rPr lang="en-US" b="true" sz="4934">
                <a:solidFill>
                  <a:srgbClr val="2A604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Los jóvenes QUIEREN conectar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61434" y="4004048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246222" y="2742209"/>
            <a:ext cx="8721800" cy="1052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2"/>
              </a:lnSpc>
            </a:pPr>
            <a:r>
              <a:rPr lang="en-US" sz="30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340 mil jóvenes vi</a:t>
            </a:r>
            <a:r>
              <a:rPr lang="en-US" sz="30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sitaron patrimonios en 2025. El interés existe - necesitamos facilitar el acceso.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0070" y="3985664"/>
            <a:ext cx="4777053" cy="26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8"/>
              </a:lnSpc>
            </a:pPr>
            <a:r>
              <a:rPr lang="en-US" sz="159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FUENTE:</a:t>
            </a:r>
            <a:r>
              <a:rPr lang="en-US" sz="159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Mini</a:t>
            </a:r>
            <a:r>
              <a:rPr lang="en-US" sz="159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sterio de las Culturas, 2025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6199352"/>
            <a:ext cx="4217454" cy="145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24"/>
              </a:lnSpc>
            </a:pPr>
            <a:r>
              <a:rPr lang="en-US" sz="423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 que sabemos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73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6810" y="263804"/>
            <a:ext cx="17804646" cy="9738704"/>
            <a:chOff x="0" y="0"/>
            <a:chExt cx="4689289" cy="25649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9289" cy="2564926"/>
            </a:xfrm>
            <a:custGeom>
              <a:avLst/>
              <a:gdLst/>
              <a:ahLst/>
              <a:cxnLst/>
              <a:rect r="r" b="b" t="t" l="l"/>
              <a:pathLst>
                <a:path h="2564926" w="4689289">
                  <a:moveTo>
                    <a:pt x="22176" y="0"/>
                  </a:moveTo>
                  <a:lnTo>
                    <a:pt x="4667113" y="0"/>
                  </a:lnTo>
                  <a:cubicBezTo>
                    <a:pt x="4679361" y="0"/>
                    <a:pt x="4689289" y="9929"/>
                    <a:pt x="4689289" y="22176"/>
                  </a:cubicBezTo>
                  <a:lnTo>
                    <a:pt x="4689289" y="2542750"/>
                  </a:lnTo>
                  <a:cubicBezTo>
                    <a:pt x="4689289" y="2554998"/>
                    <a:pt x="4679361" y="2564926"/>
                    <a:pt x="4667113" y="2564926"/>
                  </a:cubicBezTo>
                  <a:lnTo>
                    <a:pt x="22176" y="2564926"/>
                  </a:lnTo>
                  <a:cubicBezTo>
                    <a:pt x="9929" y="2564926"/>
                    <a:pt x="0" y="2554998"/>
                    <a:pt x="0" y="2542750"/>
                  </a:cubicBezTo>
                  <a:lnTo>
                    <a:pt x="0" y="22176"/>
                  </a:lnTo>
                  <a:cubicBezTo>
                    <a:pt x="0" y="9929"/>
                    <a:pt x="9929" y="0"/>
                    <a:pt x="2217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689289" cy="2650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6637" y="616895"/>
            <a:ext cx="12385575" cy="823610"/>
            <a:chOff x="0" y="0"/>
            <a:chExt cx="6111504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11504" cy="406400"/>
            </a:xfrm>
            <a:custGeom>
              <a:avLst/>
              <a:gdLst/>
              <a:ahLst/>
              <a:cxnLst/>
              <a:rect r="r" b="b" t="t" l="l"/>
              <a:pathLst>
                <a:path h="406400" w="6111504">
                  <a:moveTo>
                    <a:pt x="5908304" y="0"/>
                  </a:moveTo>
                  <a:cubicBezTo>
                    <a:pt x="6020528" y="0"/>
                    <a:pt x="6111504" y="90976"/>
                    <a:pt x="6111504" y="203200"/>
                  </a:cubicBezTo>
                  <a:cubicBezTo>
                    <a:pt x="6111504" y="315424"/>
                    <a:pt x="6020528" y="406400"/>
                    <a:pt x="5908304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CDFD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6111504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34940" y="4627843"/>
            <a:ext cx="2996347" cy="3015203"/>
            <a:chOff x="0" y="0"/>
            <a:chExt cx="789161" cy="7941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9161" cy="794127"/>
            </a:xfrm>
            <a:custGeom>
              <a:avLst/>
              <a:gdLst/>
              <a:ahLst/>
              <a:cxnLst/>
              <a:rect r="r" b="b" t="t" l="l"/>
              <a:pathLst>
                <a:path h="794127" w="789161">
                  <a:moveTo>
                    <a:pt x="0" y="0"/>
                  </a:moveTo>
                  <a:lnTo>
                    <a:pt x="789161" y="0"/>
                  </a:lnTo>
                  <a:lnTo>
                    <a:pt x="789161" y="794127"/>
                  </a:lnTo>
                  <a:lnTo>
                    <a:pt x="0" y="794127"/>
                  </a:lnTo>
                  <a:close/>
                </a:path>
              </a:pathLst>
            </a:custGeom>
            <a:solidFill>
              <a:srgbClr val="FFD23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789161" cy="879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3418" y="4556946"/>
            <a:ext cx="3049387" cy="3086100"/>
            <a:chOff x="0" y="0"/>
            <a:chExt cx="803131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03131" cy="812800"/>
            </a:xfrm>
            <a:custGeom>
              <a:avLst/>
              <a:gdLst/>
              <a:ahLst/>
              <a:cxnLst/>
              <a:rect r="r" b="b" t="t" l="l"/>
              <a:pathLst>
                <a:path h="812800" w="803131">
                  <a:moveTo>
                    <a:pt x="0" y="0"/>
                  </a:moveTo>
                  <a:lnTo>
                    <a:pt x="803131" y="0"/>
                  </a:lnTo>
                  <a:lnTo>
                    <a:pt x="80313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D23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803131" cy="898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0068" y="4437343"/>
            <a:ext cx="3028873" cy="3086100"/>
            <a:chOff x="0" y="0"/>
            <a:chExt cx="797728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97728" cy="812800"/>
            </a:xfrm>
            <a:custGeom>
              <a:avLst/>
              <a:gdLst/>
              <a:ahLst/>
              <a:cxnLst/>
              <a:rect r="r" b="b" t="t" l="l"/>
              <a:pathLst>
                <a:path h="812800" w="797728">
                  <a:moveTo>
                    <a:pt x="0" y="0"/>
                  </a:moveTo>
                  <a:lnTo>
                    <a:pt x="797728" y="0"/>
                  </a:lnTo>
                  <a:lnTo>
                    <a:pt x="79772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3D7C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797728" cy="898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73511" y="4556946"/>
            <a:ext cx="3146830" cy="3086100"/>
            <a:chOff x="0" y="0"/>
            <a:chExt cx="828795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8795" cy="812800"/>
            </a:xfrm>
            <a:custGeom>
              <a:avLst/>
              <a:gdLst/>
              <a:ahLst/>
              <a:cxnLst/>
              <a:rect r="r" b="b" t="t" l="l"/>
              <a:pathLst>
                <a:path h="812800" w="828795">
                  <a:moveTo>
                    <a:pt x="0" y="0"/>
                  </a:moveTo>
                  <a:lnTo>
                    <a:pt x="828795" y="0"/>
                  </a:lnTo>
                  <a:lnTo>
                    <a:pt x="8287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D23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828795" cy="898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916179" y="4437343"/>
            <a:ext cx="3151762" cy="3086100"/>
            <a:chOff x="0" y="0"/>
            <a:chExt cx="830094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30094" cy="812800"/>
            </a:xfrm>
            <a:custGeom>
              <a:avLst/>
              <a:gdLst/>
              <a:ahLst/>
              <a:cxnLst/>
              <a:rect r="r" b="b" t="t" l="l"/>
              <a:pathLst>
                <a:path h="812800" w="830094">
                  <a:moveTo>
                    <a:pt x="0" y="0"/>
                  </a:moveTo>
                  <a:lnTo>
                    <a:pt x="830094" y="0"/>
                  </a:lnTo>
                  <a:lnTo>
                    <a:pt x="83009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3D7C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830094" cy="898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134915" y="4437343"/>
            <a:ext cx="2985353" cy="3086100"/>
            <a:chOff x="0" y="0"/>
            <a:chExt cx="786266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86266" cy="812800"/>
            </a:xfrm>
            <a:custGeom>
              <a:avLst/>
              <a:gdLst/>
              <a:ahLst/>
              <a:cxnLst/>
              <a:rect r="r" b="b" t="t" l="l"/>
              <a:pathLst>
                <a:path h="812800" w="786266">
                  <a:moveTo>
                    <a:pt x="0" y="0"/>
                  </a:moveTo>
                  <a:lnTo>
                    <a:pt x="786266" y="0"/>
                  </a:lnTo>
                  <a:lnTo>
                    <a:pt x="78626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3D7C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786266" cy="898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706116" y="4556946"/>
            <a:ext cx="3173606" cy="3086100"/>
            <a:chOff x="0" y="0"/>
            <a:chExt cx="835847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35847" cy="812800"/>
            </a:xfrm>
            <a:custGeom>
              <a:avLst/>
              <a:gdLst/>
              <a:ahLst/>
              <a:cxnLst/>
              <a:rect r="r" b="b" t="t" l="l"/>
              <a:pathLst>
                <a:path h="812800" w="835847">
                  <a:moveTo>
                    <a:pt x="0" y="0"/>
                  </a:moveTo>
                  <a:lnTo>
                    <a:pt x="835847" y="0"/>
                  </a:lnTo>
                  <a:lnTo>
                    <a:pt x="83584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D23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835847" cy="898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553716" y="4437343"/>
            <a:ext cx="3152574" cy="3086100"/>
            <a:chOff x="0" y="0"/>
            <a:chExt cx="830308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30307" cy="812800"/>
            </a:xfrm>
            <a:custGeom>
              <a:avLst/>
              <a:gdLst/>
              <a:ahLst/>
              <a:cxnLst/>
              <a:rect r="r" b="b" t="t" l="l"/>
              <a:pathLst>
                <a:path h="812800" w="830307">
                  <a:moveTo>
                    <a:pt x="0" y="0"/>
                  </a:moveTo>
                  <a:lnTo>
                    <a:pt x="830307" y="0"/>
                  </a:lnTo>
                  <a:lnTo>
                    <a:pt x="83030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3D7C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830308" cy="898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800095" y="4599268"/>
            <a:ext cx="2962802" cy="3086100"/>
            <a:chOff x="0" y="0"/>
            <a:chExt cx="780326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80326" cy="812800"/>
            </a:xfrm>
            <a:custGeom>
              <a:avLst/>
              <a:gdLst/>
              <a:ahLst/>
              <a:cxnLst/>
              <a:rect r="r" b="b" t="t" l="l"/>
              <a:pathLst>
                <a:path h="812800" w="780326">
                  <a:moveTo>
                    <a:pt x="0" y="0"/>
                  </a:moveTo>
                  <a:lnTo>
                    <a:pt x="780326" y="0"/>
                  </a:lnTo>
                  <a:lnTo>
                    <a:pt x="78032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D23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85725"/>
              <a:ext cx="780326" cy="898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628645" y="4437343"/>
            <a:ext cx="2959153" cy="3086100"/>
            <a:chOff x="0" y="0"/>
            <a:chExt cx="779365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79365" cy="812800"/>
            </a:xfrm>
            <a:custGeom>
              <a:avLst/>
              <a:gdLst/>
              <a:ahLst/>
              <a:cxnLst/>
              <a:rect r="r" b="b" t="t" l="l"/>
              <a:pathLst>
                <a:path h="812800" w="779365">
                  <a:moveTo>
                    <a:pt x="0" y="0"/>
                  </a:moveTo>
                  <a:lnTo>
                    <a:pt x="779365" y="0"/>
                  </a:lnTo>
                  <a:lnTo>
                    <a:pt x="77936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3D7C2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779365" cy="898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4897804" y="4473059"/>
            <a:ext cx="2398737" cy="118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71"/>
              </a:lnSpc>
              <a:spcBef>
                <a:spcPct val="0"/>
              </a:spcBef>
            </a:pPr>
            <a:r>
              <a:rPr lang="en-US" sz="6265">
                <a:solidFill>
                  <a:srgbClr val="000000"/>
                </a:solidFill>
                <a:latin typeface="Tabarra Sans"/>
                <a:ea typeface="Tabarra Sans"/>
                <a:cs typeface="Tabarra Sans"/>
                <a:sym typeface="Tabarra Sans"/>
              </a:rPr>
              <a:t>✔️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5513139" y="4690833"/>
            <a:ext cx="1145980" cy="1075788"/>
          </a:xfrm>
          <a:custGeom>
            <a:avLst/>
            <a:gdLst/>
            <a:ahLst/>
            <a:cxnLst/>
            <a:rect r="r" b="b" t="t" l="l"/>
            <a:pathLst>
              <a:path h="1075788" w="1145980">
                <a:moveTo>
                  <a:pt x="0" y="0"/>
                </a:moveTo>
                <a:lnTo>
                  <a:pt x="1145980" y="0"/>
                </a:lnTo>
                <a:lnTo>
                  <a:pt x="1145980" y="1075788"/>
                </a:lnTo>
                <a:lnTo>
                  <a:pt x="0" y="10757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4207403" y="4671291"/>
            <a:ext cx="1055055" cy="1055055"/>
          </a:xfrm>
          <a:custGeom>
            <a:avLst/>
            <a:gdLst/>
            <a:ahLst/>
            <a:cxnLst/>
            <a:rect r="r" b="b" t="t" l="l"/>
            <a:pathLst>
              <a:path h="1055055" w="1055055">
                <a:moveTo>
                  <a:pt x="0" y="0"/>
                </a:moveTo>
                <a:lnTo>
                  <a:pt x="1055055" y="0"/>
                </a:lnTo>
                <a:lnTo>
                  <a:pt x="1055055" y="1055055"/>
                </a:lnTo>
                <a:lnTo>
                  <a:pt x="0" y="10550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762052" y="4818982"/>
            <a:ext cx="1984264" cy="628351"/>
          </a:xfrm>
          <a:prstGeom prst="rect">
            <a:avLst/>
          </a:prstGeom>
        </p:spPr>
      </p:pic>
      <p:sp>
        <p:nvSpPr>
          <p:cNvPr name="Freeform 42" id="42"/>
          <p:cNvSpPr/>
          <p:nvPr/>
        </p:nvSpPr>
        <p:spPr>
          <a:xfrm flipH="false" flipV="false" rot="0">
            <a:off x="16222732" y="321279"/>
            <a:ext cx="1701429" cy="1701429"/>
          </a:xfrm>
          <a:custGeom>
            <a:avLst/>
            <a:gdLst/>
            <a:ahLst/>
            <a:cxnLst/>
            <a:rect r="r" b="b" t="t" l="l"/>
            <a:pathLst>
              <a:path h="1701429" w="1701429">
                <a:moveTo>
                  <a:pt x="0" y="0"/>
                </a:moveTo>
                <a:lnTo>
                  <a:pt x="1701429" y="0"/>
                </a:lnTo>
                <a:lnTo>
                  <a:pt x="1701429" y="1701429"/>
                </a:lnTo>
                <a:lnTo>
                  <a:pt x="0" y="17014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2058111" y="780058"/>
            <a:ext cx="376397" cy="447426"/>
          </a:xfrm>
          <a:custGeom>
            <a:avLst/>
            <a:gdLst/>
            <a:ahLst/>
            <a:cxnLst/>
            <a:rect r="r" b="b" t="t" l="l"/>
            <a:pathLst>
              <a:path h="447426" w="376397">
                <a:moveTo>
                  <a:pt x="0" y="0"/>
                </a:moveTo>
                <a:lnTo>
                  <a:pt x="376397" y="0"/>
                </a:lnTo>
                <a:lnTo>
                  <a:pt x="376397" y="447426"/>
                </a:lnTo>
                <a:lnTo>
                  <a:pt x="0" y="447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2604755" y="656233"/>
            <a:ext cx="4586098" cy="621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3"/>
              </a:lnSpc>
              <a:spcBef>
                <a:spcPct val="0"/>
              </a:spcBef>
            </a:pPr>
            <a:r>
              <a:rPr lang="en-US" sz="3266">
                <a:solidFill>
                  <a:srgbClr val="1E1E1E"/>
                </a:solidFill>
                <a:latin typeface="Tabarra Sans"/>
                <a:ea typeface="Tabarra Sans"/>
                <a:cs typeface="Tabarra Sans"/>
                <a:sym typeface="Tabarra Sans"/>
              </a:rPr>
              <a:t>Solución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20519" y="1477688"/>
            <a:ext cx="13266395" cy="985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9"/>
              </a:lnSpc>
            </a:pPr>
            <a:r>
              <a:rPr lang="en-US" b="true" sz="580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Tu recorrido: Descubre lo Auténtico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30651" y="3024929"/>
            <a:ext cx="12446131" cy="47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6"/>
              </a:lnSpc>
            </a:pPr>
            <a:r>
              <a:rPr lang="en-US" sz="2854">
                <a:solidFill>
                  <a:srgbClr val="1E1E1E"/>
                </a:solidFill>
                <a:latin typeface="Open Sans"/>
                <a:ea typeface="Open Sans"/>
                <a:cs typeface="Open Sans"/>
                <a:sym typeface="Open Sans"/>
              </a:rPr>
              <a:t>Una platafo</a:t>
            </a:r>
            <a:r>
              <a:rPr lang="en-US" sz="2854">
                <a:solidFill>
                  <a:srgbClr val="1E1E1E"/>
                </a:solidFill>
                <a:latin typeface="Open Sans"/>
                <a:ea typeface="Open Sans"/>
                <a:cs typeface="Open Sans"/>
                <a:sym typeface="Open Sans"/>
              </a:rPr>
              <a:t>rma móvil que guía, valida y celebra cada exploración cultural.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33418" y="6385084"/>
            <a:ext cx="2706487" cy="818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3"/>
              </a:lnSpc>
              <a:spcBef>
                <a:spcPct val="0"/>
              </a:spcBef>
            </a:pPr>
            <a:r>
              <a:rPr lang="en-US" sz="2230">
                <a:solidFill>
                  <a:srgbClr val="000000"/>
                </a:solidFill>
                <a:latin typeface="Tabarra Sans"/>
                <a:ea typeface="Tabarra Sans"/>
                <a:cs typeface="Tabarra Sans"/>
                <a:sym typeface="Tabarra Sans"/>
              </a:rPr>
              <a:t>Sitios cercanos con historias reales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90470" y="4492109"/>
            <a:ext cx="1479510" cy="1083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90"/>
              </a:lnSpc>
              <a:spcBef>
                <a:spcPct val="0"/>
              </a:spcBef>
            </a:pPr>
            <a:r>
              <a:rPr lang="en-US" sz="5707">
                <a:solidFill>
                  <a:srgbClr val="000000"/>
                </a:solidFill>
                <a:latin typeface="Tabarra Sans"/>
                <a:ea typeface="Tabarra Sans"/>
                <a:cs typeface="Tabarra Sans"/>
                <a:sym typeface="Tabarra Sans"/>
              </a:rPr>
              <a:t>🔍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073511" y="6056593"/>
            <a:ext cx="2683886" cy="1146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abarra Sans"/>
                <a:ea typeface="Tabarra Sans"/>
                <a:cs typeface="Tabarra Sans"/>
                <a:sym typeface="Tabarra Sans"/>
              </a:rPr>
              <a:t>QR + GPS confirman tu visita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639581" y="5923243"/>
            <a:ext cx="1704959" cy="465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b="true" sz="2682">
                <a:solidFill>
                  <a:srgbClr val="2720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Valida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77745" y="5772632"/>
            <a:ext cx="1704959" cy="465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b="true" sz="2682">
                <a:solidFill>
                  <a:srgbClr val="2720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Descubre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777190" y="6428068"/>
            <a:ext cx="2683886" cy="7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abarra Sans"/>
                <a:ea typeface="Tabarra Sans"/>
                <a:cs typeface="Tabarra Sans"/>
                <a:sym typeface="Tabarra Sans"/>
              </a:rPr>
              <a:t>Insig</a:t>
            </a:r>
            <a:r>
              <a:rPr lang="en-US" sz="2100">
                <a:solidFill>
                  <a:srgbClr val="000000"/>
                </a:solidFill>
                <a:latin typeface="Tabarra Sans"/>
                <a:ea typeface="Tabarra Sans"/>
                <a:cs typeface="Tabarra Sans"/>
                <a:sym typeface="Tabarra Sans"/>
              </a:rPr>
              <a:t>nias únicas por cada sitio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087116" y="5880921"/>
            <a:ext cx="2113147" cy="465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b="true" sz="2682">
                <a:solidFill>
                  <a:srgbClr val="2720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Colecciona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944322" y="4578852"/>
            <a:ext cx="2398737" cy="118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71"/>
              </a:lnSpc>
              <a:spcBef>
                <a:spcPct val="0"/>
              </a:spcBef>
            </a:pPr>
            <a:r>
              <a:rPr lang="en-US" sz="6265">
                <a:solidFill>
                  <a:srgbClr val="000000"/>
                </a:solidFill>
                <a:latin typeface="Tabarra Sans"/>
                <a:ea typeface="Tabarra Sans"/>
                <a:cs typeface="Tabarra Sans"/>
                <a:sym typeface="Tabarra Sans"/>
              </a:rPr>
              <a:t>🏆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800095" y="6428068"/>
            <a:ext cx="2683886" cy="7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Tabarra Sans"/>
                <a:ea typeface="Tabarra Sans"/>
                <a:cs typeface="Tabarra Sans"/>
                <a:sym typeface="Tabarra Sans"/>
              </a:rPr>
              <a:t>Co</a:t>
            </a:r>
            <a:r>
              <a:rPr lang="en-US" sz="2100">
                <a:solidFill>
                  <a:srgbClr val="000000"/>
                </a:solidFill>
                <a:latin typeface="Tabarra Sans"/>
                <a:ea typeface="Tabarra Sans"/>
                <a:cs typeface="Tabarra Sans"/>
                <a:sym typeface="Tabarra Sans"/>
              </a:rPr>
              <a:t>necta con otros exploradores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5051647" y="5880921"/>
            <a:ext cx="2113147" cy="465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b="true" sz="2682">
                <a:solidFill>
                  <a:srgbClr val="2720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Comparte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476876" y="5896080"/>
            <a:ext cx="3004235" cy="388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488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 tu progreso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213097" y="6432689"/>
            <a:ext cx="2899115" cy="732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000000"/>
                </a:solidFill>
                <a:latin typeface="Tabarra Sans"/>
                <a:ea typeface="Tabarra Sans"/>
                <a:cs typeface="Tabarra Sans"/>
                <a:sym typeface="Tabarra Sans"/>
              </a:rPr>
              <a:t>Asegura tu recorrido en cada sector turístico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73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41548" y="4813695"/>
            <a:ext cx="1246250" cy="1733913"/>
          </a:xfrm>
          <a:custGeom>
            <a:avLst/>
            <a:gdLst/>
            <a:ahLst/>
            <a:cxnLst/>
            <a:rect r="r" b="b" t="t" l="l"/>
            <a:pathLst>
              <a:path h="1733913" w="1246250">
                <a:moveTo>
                  <a:pt x="0" y="0"/>
                </a:moveTo>
                <a:lnTo>
                  <a:pt x="1246250" y="0"/>
                </a:lnTo>
                <a:lnTo>
                  <a:pt x="1246250" y="1733912"/>
                </a:lnTo>
                <a:lnTo>
                  <a:pt x="0" y="17339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56990" y="193039"/>
            <a:ext cx="17560055" cy="9871234"/>
            <a:chOff x="0" y="0"/>
            <a:chExt cx="4624871" cy="25998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24870" cy="2599831"/>
            </a:xfrm>
            <a:custGeom>
              <a:avLst/>
              <a:gdLst/>
              <a:ahLst/>
              <a:cxnLst/>
              <a:rect r="r" b="b" t="t" l="l"/>
              <a:pathLst>
                <a:path h="2599831" w="4624870">
                  <a:moveTo>
                    <a:pt x="22485" y="0"/>
                  </a:moveTo>
                  <a:lnTo>
                    <a:pt x="4602385" y="0"/>
                  </a:lnTo>
                  <a:cubicBezTo>
                    <a:pt x="4614804" y="0"/>
                    <a:pt x="4624870" y="10067"/>
                    <a:pt x="4624870" y="22485"/>
                  </a:cubicBezTo>
                  <a:lnTo>
                    <a:pt x="4624870" y="2577346"/>
                  </a:lnTo>
                  <a:cubicBezTo>
                    <a:pt x="4624870" y="2583310"/>
                    <a:pt x="4622502" y="2589029"/>
                    <a:pt x="4618285" y="2593246"/>
                  </a:cubicBezTo>
                  <a:cubicBezTo>
                    <a:pt x="4614068" y="2597462"/>
                    <a:pt x="4608349" y="2599831"/>
                    <a:pt x="4602385" y="2599831"/>
                  </a:cubicBezTo>
                  <a:lnTo>
                    <a:pt x="22485" y="2599831"/>
                  </a:lnTo>
                  <a:cubicBezTo>
                    <a:pt x="16522" y="2599831"/>
                    <a:pt x="10802" y="2597462"/>
                    <a:pt x="6586" y="2593246"/>
                  </a:cubicBezTo>
                  <a:cubicBezTo>
                    <a:pt x="2369" y="2589029"/>
                    <a:pt x="0" y="2583310"/>
                    <a:pt x="0" y="2577346"/>
                  </a:cubicBezTo>
                  <a:lnTo>
                    <a:pt x="0" y="22485"/>
                  </a:lnTo>
                  <a:cubicBezTo>
                    <a:pt x="0" y="16522"/>
                    <a:pt x="2369" y="10802"/>
                    <a:pt x="6586" y="6586"/>
                  </a:cubicBezTo>
                  <a:cubicBezTo>
                    <a:pt x="10802" y="2369"/>
                    <a:pt x="16522" y="0"/>
                    <a:pt x="224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4624871" cy="26855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3589" y="613542"/>
            <a:ext cx="12307483" cy="830316"/>
            <a:chOff x="0" y="0"/>
            <a:chExt cx="6023922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23922" cy="406400"/>
            </a:xfrm>
            <a:custGeom>
              <a:avLst/>
              <a:gdLst/>
              <a:ahLst/>
              <a:cxnLst/>
              <a:rect r="r" b="b" t="t" l="l"/>
              <a:pathLst>
                <a:path h="406400" w="6023922">
                  <a:moveTo>
                    <a:pt x="5820722" y="0"/>
                  </a:moveTo>
                  <a:cubicBezTo>
                    <a:pt x="5932946" y="0"/>
                    <a:pt x="6023922" y="90976"/>
                    <a:pt x="6023922" y="203200"/>
                  </a:cubicBezTo>
                  <a:cubicBezTo>
                    <a:pt x="6023922" y="315424"/>
                    <a:pt x="5932946" y="406400"/>
                    <a:pt x="582072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5DBB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6023922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020967" y="426524"/>
            <a:ext cx="1688757" cy="1688757"/>
          </a:xfrm>
          <a:custGeom>
            <a:avLst/>
            <a:gdLst/>
            <a:ahLst/>
            <a:cxnLst/>
            <a:rect r="r" b="b" t="t" l="l"/>
            <a:pathLst>
              <a:path h="1688757" w="1688757">
                <a:moveTo>
                  <a:pt x="0" y="0"/>
                </a:moveTo>
                <a:lnTo>
                  <a:pt x="1688757" y="0"/>
                </a:lnTo>
                <a:lnTo>
                  <a:pt x="1688757" y="1688757"/>
                </a:lnTo>
                <a:lnTo>
                  <a:pt x="0" y="16887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99582" y="5332744"/>
            <a:ext cx="4165091" cy="1621430"/>
            <a:chOff x="0" y="0"/>
            <a:chExt cx="1096979" cy="4270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6979" cy="427043"/>
            </a:xfrm>
            <a:custGeom>
              <a:avLst/>
              <a:gdLst/>
              <a:ahLst/>
              <a:cxnLst/>
              <a:rect r="r" b="b" t="t" l="l"/>
              <a:pathLst>
                <a:path h="427043" w="1096979">
                  <a:moveTo>
                    <a:pt x="94797" y="0"/>
                  </a:moveTo>
                  <a:lnTo>
                    <a:pt x="1002182" y="0"/>
                  </a:lnTo>
                  <a:cubicBezTo>
                    <a:pt x="1054537" y="0"/>
                    <a:pt x="1096979" y="42442"/>
                    <a:pt x="1096979" y="94797"/>
                  </a:cubicBezTo>
                  <a:lnTo>
                    <a:pt x="1096979" y="332246"/>
                  </a:lnTo>
                  <a:cubicBezTo>
                    <a:pt x="1096979" y="384601"/>
                    <a:pt x="1054537" y="427043"/>
                    <a:pt x="1002182" y="427043"/>
                  </a:cubicBezTo>
                  <a:lnTo>
                    <a:pt x="94797" y="427043"/>
                  </a:lnTo>
                  <a:cubicBezTo>
                    <a:pt x="42442" y="427043"/>
                    <a:pt x="0" y="384601"/>
                    <a:pt x="0" y="332246"/>
                  </a:cubicBezTo>
                  <a:lnTo>
                    <a:pt x="0" y="94797"/>
                  </a:lnTo>
                  <a:cubicBezTo>
                    <a:pt x="0" y="42442"/>
                    <a:pt x="42442" y="0"/>
                    <a:pt x="94797" y="0"/>
                  </a:cubicBezTo>
                  <a:close/>
                </a:path>
              </a:pathLst>
            </a:custGeom>
            <a:solidFill>
              <a:srgbClr val="85DBBF"/>
            </a:solidFill>
            <a:ln w="38100" cap="rnd">
              <a:solidFill>
                <a:srgbClr val="FFD23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1096979" cy="512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37331" y="5302232"/>
            <a:ext cx="4547252" cy="1621430"/>
            <a:chOff x="0" y="0"/>
            <a:chExt cx="1197630" cy="4270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97630" cy="427043"/>
            </a:xfrm>
            <a:custGeom>
              <a:avLst/>
              <a:gdLst/>
              <a:ahLst/>
              <a:cxnLst/>
              <a:rect r="r" b="b" t="t" l="l"/>
              <a:pathLst>
                <a:path h="427043" w="1197630">
                  <a:moveTo>
                    <a:pt x="86830" y="0"/>
                  </a:moveTo>
                  <a:lnTo>
                    <a:pt x="1110800" y="0"/>
                  </a:lnTo>
                  <a:cubicBezTo>
                    <a:pt x="1133829" y="0"/>
                    <a:pt x="1155915" y="9148"/>
                    <a:pt x="1172198" y="25432"/>
                  </a:cubicBezTo>
                  <a:cubicBezTo>
                    <a:pt x="1188482" y="41716"/>
                    <a:pt x="1197630" y="63801"/>
                    <a:pt x="1197630" y="86830"/>
                  </a:cubicBezTo>
                  <a:lnTo>
                    <a:pt x="1197630" y="340213"/>
                  </a:lnTo>
                  <a:cubicBezTo>
                    <a:pt x="1197630" y="388168"/>
                    <a:pt x="1158755" y="427043"/>
                    <a:pt x="1110800" y="427043"/>
                  </a:cubicBezTo>
                  <a:lnTo>
                    <a:pt x="86830" y="427043"/>
                  </a:lnTo>
                  <a:cubicBezTo>
                    <a:pt x="38875" y="427043"/>
                    <a:pt x="0" y="388168"/>
                    <a:pt x="0" y="340213"/>
                  </a:cubicBezTo>
                  <a:lnTo>
                    <a:pt x="0" y="86830"/>
                  </a:lnTo>
                  <a:cubicBezTo>
                    <a:pt x="0" y="38875"/>
                    <a:pt x="38875" y="0"/>
                    <a:pt x="86830" y="0"/>
                  </a:cubicBezTo>
                  <a:close/>
                </a:path>
              </a:pathLst>
            </a:custGeom>
            <a:solidFill>
              <a:srgbClr val="85DBBF"/>
            </a:solidFill>
            <a:ln w="38100" cap="rnd">
              <a:solidFill>
                <a:srgbClr val="FFD23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1197630" cy="512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593971" y="7365069"/>
            <a:ext cx="1893231" cy="1893231"/>
          </a:xfrm>
          <a:custGeom>
            <a:avLst/>
            <a:gdLst/>
            <a:ahLst/>
            <a:cxnLst/>
            <a:rect r="r" b="b" t="t" l="l"/>
            <a:pathLst>
              <a:path h="1893231" w="1893231">
                <a:moveTo>
                  <a:pt x="0" y="0"/>
                </a:moveTo>
                <a:lnTo>
                  <a:pt x="1893231" y="0"/>
                </a:lnTo>
                <a:lnTo>
                  <a:pt x="1893231" y="1893231"/>
                </a:lnTo>
                <a:lnTo>
                  <a:pt x="0" y="1893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3036248" y="5302232"/>
            <a:ext cx="4547252" cy="1621430"/>
            <a:chOff x="0" y="0"/>
            <a:chExt cx="1197630" cy="4270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97630" cy="427043"/>
            </a:xfrm>
            <a:custGeom>
              <a:avLst/>
              <a:gdLst/>
              <a:ahLst/>
              <a:cxnLst/>
              <a:rect r="r" b="b" t="t" l="l"/>
              <a:pathLst>
                <a:path h="427043" w="1197630">
                  <a:moveTo>
                    <a:pt x="86830" y="0"/>
                  </a:moveTo>
                  <a:lnTo>
                    <a:pt x="1110800" y="0"/>
                  </a:lnTo>
                  <a:cubicBezTo>
                    <a:pt x="1133829" y="0"/>
                    <a:pt x="1155915" y="9148"/>
                    <a:pt x="1172198" y="25432"/>
                  </a:cubicBezTo>
                  <a:cubicBezTo>
                    <a:pt x="1188482" y="41716"/>
                    <a:pt x="1197630" y="63801"/>
                    <a:pt x="1197630" y="86830"/>
                  </a:cubicBezTo>
                  <a:lnTo>
                    <a:pt x="1197630" y="340213"/>
                  </a:lnTo>
                  <a:cubicBezTo>
                    <a:pt x="1197630" y="388168"/>
                    <a:pt x="1158755" y="427043"/>
                    <a:pt x="1110800" y="427043"/>
                  </a:cubicBezTo>
                  <a:lnTo>
                    <a:pt x="86830" y="427043"/>
                  </a:lnTo>
                  <a:cubicBezTo>
                    <a:pt x="38875" y="427043"/>
                    <a:pt x="0" y="388168"/>
                    <a:pt x="0" y="340213"/>
                  </a:cubicBezTo>
                  <a:lnTo>
                    <a:pt x="0" y="86830"/>
                  </a:lnTo>
                  <a:cubicBezTo>
                    <a:pt x="0" y="38875"/>
                    <a:pt x="38875" y="0"/>
                    <a:pt x="86830" y="0"/>
                  </a:cubicBezTo>
                  <a:close/>
                </a:path>
              </a:pathLst>
            </a:custGeom>
            <a:solidFill>
              <a:srgbClr val="85DBBF"/>
            </a:solidFill>
            <a:ln w="38100" cap="rnd">
              <a:solidFill>
                <a:srgbClr val="FFD23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1197630" cy="512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411369" y="7469926"/>
            <a:ext cx="3141516" cy="1788374"/>
          </a:xfrm>
          <a:custGeom>
            <a:avLst/>
            <a:gdLst/>
            <a:ahLst/>
            <a:cxnLst/>
            <a:rect r="r" b="b" t="t" l="l"/>
            <a:pathLst>
              <a:path h="1788374" w="3141516">
                <a:moveTo>
                  <a:pt x="0" y="0"/>
                </a:moveTo>
                <a:lnTo>
                  <a:pt x="3141517" y="0"/>
                </a:lnTo>
                <a:lnTo>
                  <a:pt x="3141517" y="1788374"/>
                </a:lnTo>
                <a:lnTo>
                  <a:pt x="0" y="1788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656214" y="7500316"/>
            <a:ext cx="3035709" cy="1727595"/>
          </a:xfrm>
          <a:custGeom>
            <a:avLst/>
            <a:gdLst/>
            <a:ahLst/>
            <a:cxnLst/>
            <a:rect r="r" b="b" t="t" l="l"/>
            <a:pathLst>
              <a:path h="1727595" w="3035709">
                <a:moveTo>
                  <a:pt x="0" y="0"/>
                </a:moveTo>
                <a:lnTo>
                  <a:pt x="3035709" y="0"/>
                </a:lnTo>
                <a:lnTo>
                  <a:pt x="3035709" y="1727594"/>
                </a:lnTo>
                <a:lnTo>
                  <a:pt x="0" y="17275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047006" y="7824704"/>
            <a:ext cx="973961" cy="973961"/>
          </a:xfrm>
          <a:custGeom>
            <a:avLst/>
            <a:gdLst/>
            <a:ahLst/>
            <a:cxnLst/>
            <a:rect r="r" b="b" t="t" l="l"/>
            <a:pathLst>
              <a:path h="973961" w="973961">
                <a:moveTo>
                  <a:pt x="0" y="0"/>
                </a:moveTo>
                <a:lnTo>
                  <a:pt x="973961" y="0"/>
                </a:lnTo>
                <a:lnTo>
                  <a:pt x="973961" y="973961"/>
                </a:lnTo>
                <a:lnTo>
                  <a:pt x="0" y="9739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3036248" y="5805796"/>
            <a:ext cx="4673476" cy="62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85"/>
              </a:lnSpc>
            </a:pPr>
            <a:r>
              <a:rPr lang="en-US" b="true" sz="4169" spc="-125">
                <a:solidFill>
                  <a:srgbClr val="1E1E1E"/>
                </a:solidFill>
                <a:latin typeface="Tabarra Sans Bold"/>
                <a:ea typeface="Tabarra Sans Bold"/>
                <a:cs typeface="Tabarra Sans Bold"/>
                <a:sym typeface="Tabarra Sans Bold"/>
              </a:rPr>
              <a:t>ESCANEO QR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5547364"/>
            <a:ext cx="3761192" cy="1140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85"/>
              </a:lnSpc>
            </a:pPr>
            <a:r>
              <a:rPr lang="en-US" b="true" sz="4169" spc="-125">
                <a:solidFill>
                  <a:srgbClr val="1E1E1E"/>
                </a:solidFill>
                <a:latin typeface="Tabarra Sans Bold"/>
                <a:ea typeface="Tabarra Sans Bold"/>
                <a:cs typeface="Tabarra Sans Bold"/>
                <a:sym typeface="Tabarra Sans Bold"/>
              </a:rPr>
              <a:t>MAPA INTERACTIVO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37331" y="5805796"/>
            <a:ext cx="4673476" cy="62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85"/>
              </a:lnSpc>
            </a:pPr>
            <a:r>
              <a:rPr lang="en-US" b="true" sz="4169" spc="-125">
                <a:solidFill>
                  <a:srgbClr val="1E1E1E"/>
                </a:solidFill>
                <a:latin typeface="Tabarra Sans Bold"/>
                <a:ea typeface="Tabarra Sans Bold"/>
                <a:cs typeface="Tabarra Sans Bold"/>
                <a:sym typeface="Tabarra Sans Bold"/>
              </a:rPr>
              <a:t>SISTEMA SOCIAL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2269304"/>
            <a:ext cx="12307483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-96">
                <a:solidFill>
                  <a:srgbClr val="1E1E1E"/>
                </a:solidFill>
                <a:latin typeface="Garet"/>
                <a:ea typeface="Garet"/>
                <a:cs typeface="Garet"/>
                <a:sym typeface="Garet"/>
              </a:rPr>
              <a:t>El propósito es fomentar el interés por el patrimonio cultural de Santiago usando un sistema gamificado, provocando un paso hacia la educación divertida y exploración activa.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6222" y="662673"/>
            <a:ext cx="11381975" cy="608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3"/>
              </a:lnSpc>
              <a:spcBef>
                <a:spcPct val="0"/>
              </a:spcBef>
            </a:pPr>
            <a:r>
              <a:rPr lang="en-US" sz="3202">
                <a:solidFill>
                  <a:srgbClr val="000000"/>
                </a:solidFill>
                <a:latin typeface="Tabarra Sans"/>
                <a:ea typeface="Tabarra Sans"/>
                <a:cs typeface="Tabarra Sans"/>
                <a:sym typeface="Tabarra Sans"/>
              </a:rPr>
              <a:t>Objetivo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73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6727" y="393389"/>
            <a:ext cx="17414546" cy="9500223"/>
            <a:chOff x="0" y="0"/>
            <a:chExt cx="4586547" cy="25021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86547" cy="2502116"/>
            </a:xfrm>
            <a:custGeom>
              <a:avLst/>
              <a:gdLst/>
              <a:ahLst/>
              <a:cxnLst/>
              <a:rect r="r" b="b" t="t" l="l"/>
              <a:pathLst>
                <a:path h="2502116" w="4586547">
                  <a:moveTo>
                    <a:pt x="22673" y="0"/>
                  </a:moveTo>
                  <a:lnTo>
                    <a:pt x="4563874" y="0"/>
                  </a:lnTo>
                  <a:cubicBezTo>
                    <a:pt x="4569887" y="0"/>
                    <a:pt x="4575654" y="2389"/>
                    <a:pt x="4579906" y="6641"/>
                  </a:cubicBezTo>
                  <a:cubicBezTo>
                    <a:pt x="4584159" y="10893"/>
                    <a:pt x="4586547" y="16660"/>
                    <a:pt x="4586547" y="22673"/>
                  </a:cubicBezTo>
                  <a:lnTo>
                    <a:pt x="4586547" y="2479443"/>
                  </a:lnTo>
                  <a:cubicBezTo>
                    <a:pt x="4586547" y="2485457"/>
                    <a:pt x="4584159" y="2491224"/>
                    <a:pt x="4579906" y="2495476"/>
                  </a:cubicBezTo>
                  <a:cubicBezTo>
                    <a:pt x="4575654" y="2499727"/>
                    <a:pt x="4569887" y="2502116"/>
                    <a:pt x="4563874" y="2502116"/>
                  </a:cubicBezTo>
                  <a:lnTo>
                    <a:pt x="22673" y="2502116"/>
                  </a:lnTo>
                  <a:cubicBezTo>
                    <a:pt x="16660" y="2502116"/>
                    <a:pt x="10893" y="2499727"/>
                    <a:pt x="6641" y="2495476"/>
                  </a:cubicBezTo>
                  <a:cubicBezTo>
                    <a:pt x="2389" y="2491224"/>
                    <a:pt x="0" y="2485457"/>
                    <a:pt x="0" y="2479443"/>
                  </a:cubicBezTo>
                  <a:lnTo>
                    <a:pt x="0" y="22673"/>
                  </a:lnTo>
                  <a:cubicBezTo>
                    <a:pt x="0" y="16660"/>
                    <a:pt x="2389" y="10893"/>
                    <a:pt x="6641" y="6641"/>
                  </a:cubicBezTo>
                  <a:cubicBezTo>
                    <a:pt x="10893" y="2389"/>
                    <a:pt x="16660" y="0"/>
                    <a:pt x="2267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586547" cy="25878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8817" y="3932037"/>
            <a:ext cx="4299998" cy="4987402"/>
            <a:chOff x="0" y="0"/>
            <a:chExt cx="1132510" cy="13135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2510" cy="1313554"/>
            </a:xfrm>
            <a:custGeom>
              <a:avLst/>
              <a:gdLst/>
              <a:ahLst/>
              <a:cxnLst/>
              <a:rect r="r" b="b" t="t" l="l"/>
              <a:pathLst>
                <a:path h="1313554" w="1132510">
                  <a:moveTo>
                    <a:pt x="91823" y="0"/>
                  </a:moveTo>
                  <a:lnTo>
                    <a:pt x="1040687" y="0"/>
                  </a:lnTo>
                  <a:cubicBezTo>
                    <a:pt x="1091399" y="0"/>
                    <a:pt x="1132510" y="41110"/>
                    <a:pt x="1132510" y="91823"/>
                  </a:cubicBezTo>
                  <a:lnTo>
                    <a:pt x="1132510" y="1221732"/>
                  </a:lnTo>
                  <a:cubicBezTo>
                    <a:pt x="1132510" y="1246085"/>
                    <a:pt x="1122836" y="1269440"/>
                    <a:pt x="1105615" y="1286660"/>
                  </a:cubicBezTo>
                  <a:cubicBezTo>
                    <a:pt x="1088395" y="1303880"/>
                    <a:pt x="1065040" y="1313554"/>
                    <a:pt x="1040687" y="1313554"/>
                  </a:cubicBezTo>
                  <a:lnTo>
                    <a:pt x="91823" y="1313554"/>
                  </a:lnTo>
                  <a:cubicBezTo>
                    <a:pt x="41110" y="1313554"/>
                    <a:pt x="0" y="1272444"/>
                    <a:pt x="0" y="1221732"/>
                  </a:cubicBezTo>
                  <a:lnTo>
                    <a:pt x="0" y="91823"/>
                  </a:lnTo>
                  <a:cubicBezTo>
                    <a:pt x="0" y="41110"/>
                    <a:pt x="41110" y="0"/>
                    <a:pt x="91823" y="0"/>
                  </a:cubicBezTo>
                  <a:close/>
                </a:path>
              </a:pathLst>
            </a:custGeom>
            <a:solidFill>
              <a:srgbClr val="E9EFEB"/>
            </a:solidFill>
            <a:ln w="38100" cap="rnd">
              <a:solidFill>
                <a:srgbClr val="FFD23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1132510" cy="1399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80865" y="3932037"/>
            <a:ext cx="4299998" cy="4987402"/>
            <a:chOff x="0" y="0"/>
            <a:chExt cx="1132510" cy="13135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2510" cy="1313554"/>
            </a:xfrm>
            <a:custGeom>
              <a:avLst/>
              <a:gdLst/>
              <a:ahLst/>
              <a:cxnLst/>
              <a:rect r="r" b="b" t="t" l="l"/>
              <a:pathLst>
                <a:path h="1313554" w="1132510">
                  <a:moveTo>
                    <a:pt x="91823" y="0"/>
                  </a:moveTo>
                  <a:lnTo>
                    <a:pt x="1040687" y="0"/>
                  </a:lnTo>
                  <a:cubicBezTo>
                    <a:pt x="1091399" y="0"/>
                    <a:pt x="1132510" y="41110"/>
                    <a:pt x="1132510" y="91823"/>
                  </a:cubicBezTo>
                  <a:lnTo>
                    <a:pt x="1132510" y="1221732"/>
                  </a:lnTo>
                  <a:cubicBezTo>
                    <a:pt x="1132510" y="1246085"/>
                    <a:pt x="1122836" y="1269440"/>
                    <a:pt x="1105615" y="1286660"/>
                  </a:cubicBezTo>
                  <a:cubicBezTo>
                    <a:pt x="1088395" y="1303880"/>
                    <a:pt x="1065040" y="1313554"/>
                    <a:pt x="1040687" y="1313554"/>
                  </a:cubicBezTo>
                  <a:lnTo>
                    <a:pt x="91823" y="1313554"/>
                  </a:lnTo>
                  <a:cubicBezTo>
                    <a:pt x="41110" y="1313554"/>
                    <a:pt x="0" y="1272444"/>
                    <a:pt x="0" y="1221732"/>
                  </a:cubicBezTo>
                  <a:lnTo>
                    <a:pt x="0" y="91823"/>
                  </a:lnTo>
                  <a:cubicBezTo>
                    <a:pt x="0" y="41110"/>
                    <a:pt x="41110" y="0"/>
                    <a:pt x="91823" y="0"/>
                  </a:cubicBezTo>
                  <a:close/>
                </a:path>
              </a:pathLst>
            </a:custGeom>
            <a:solidFill>
              <a:srgbClr val="E9EFEB"/>
            </a:solidFill>
            <a:ln w="38100" cap="rnd">
              <a:solidFill>
                <a:srgbClr val="FFD23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1132510" cy="1399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92550" y="3932037"/>
            <a:ext cx="4299998" cy="4987402"/>
            <a:chOff x="0" y="0"/>
            <a:chExt cx="1132510" cy="13135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2510" cy="1313554"/>
            </a:xfrm>
            <a:custGeom>
              <a:avLst/>
              <a:gdLst/>
              <a:ahLst/>
              <a:cxnLst/>
              <a:rect r="r" b="b" t="t" l="l"/>
              <a:pathLst>
                <a:path h="1313554" w="1132510">
                  <a:moveTo>
                    <a:pt x="91823" y="0"/>
                  </a:moveTo>
                  <a:lnTo>
                    <a:pt x="1040687" y="0"/>
                  </a:lnTo>
                  <a:cubicBezTo>
                    <a:pt x="1091399" y="0"/>
                    <a:pt x="1132510" y="41110"/>
                    <a:pt x="1132510" y="91823"/>
                  </a:cubicBezTo>
                  <a:lnTo>
                    <a:pt x="1132510" y="1221732"/>
                  </a:lnTo>
                  <a:cubicBezTo>
                    <a:pt x="1132510" y="1246085"/>
                    <a:pt x="1122836" y="1269440"/>
                    <a:pt x="1105615" y="1286660"/>
                  </a:cubicBezTo>
                  <a:cubicBezTo>
                    <a:pt x="1088395" y="1303880"/>
                    <a:pt x="1065040" y="1313554"/>
                    <a:pt x="1040687" y="1313554"/>
                  </a:cubicBezTo>
                  <a:lnTo>
                    <a:pt x="91823" y="1313554"/>
                  </a:lnTo>
                  <a:cubicBezTo>
                    <a:pt x="41110" y="1313554"/>
                    <a:pt x="0" y="1272444"/>
                    <a:pt x="0" y="1221732"/>
                  </a:cubicBezTo>
                  <a:lnTo>
                    <a:pt x="0" y="91823"/>
                  </a:lnTo>
                  <a:cubicBezTo>
                    <a:pt x="0" y="41110"/>
                    <a:pt x="41110" y="0"/>
                    <a:pt x="91823" y="0"/>
                  </a:cubicBezTo>
                  <a:close/>
                </a:path>
              </a:pathLst>
            </a:custGeom>
            <a:solidFill>
              <a:srgbClr val="E9EFEB"/>
            </a:solidFill>
            <a:ln w="38100" cap="rnd">
              <a:solidFill>
                <a:srgbClr val="FFD23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1132510" cy="1399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46738" y="602515"/>
            <a:ext cx="5394523" cy="1543050"/>
            <a:chOff x="0" y="0"/>
            <a:chExt cx="142078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20780" cy="406400"/>
            </a:xfrm>
            <a:custGeom>
              <a:avLst/>
              <a:gdLst/>
              <a:ahLst/>
              <a:cxnLst/>
              <a:rect r="r" b="b" t="t" l="l"/>
              <a:pathLst>
                <a:path h="406400" w="1420780">
                  <a:moveTo>
                    <a:pt x="1217580" y="0"/>
                  </a:moveTo>
                  <a:cubicBezTo>
                    <a:pt x="1329804" y="0"/>
                    <a:pt x="1420780" y="90976"/>
                    <a:pt x="1420780" y="203200"/>
                  </a:cubicBezTo>
                  <a:cubicBezTo>
                    <a:pt x="1420780" y="315424"/>
                    <a:pt x="1329804" y="406400"/>
                    <a:pt x="121758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FEB"/>
            </a:solidFill>
            <a:ln w="38100" cap="sq">
              <a:solidFill>
                <a:srgbClr val="FFD23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420780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5400000">
            <a:off x="5279016" y="5006393"/>
            <a:ext cx="1381648" cy="138164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9736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203200" y="15875"/>
              <a:ext cx="406400" cy="796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5400000">
            <a:off x="11445882" y="5224201"/>
            <a:ext cx="1381648" cy="138164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39736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203200" y="15875"/>
              <a:ext cx="406400" cy="796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2248730" y="6773522"/>
            <a:ext cx="1320171" cy="1790062"/>
          </a:xfrm>
          <a:custGeom>
            <a:avLst/>
            <a:gdLst/>
            <a:ahLst/>
            <a:cxnLst/>
            <a:rect r="r" b="b" t="t" l="l"/>
            <a:pathLst>
              <a:path h="1790062" w="1320171">
                <a:moveTo>
                  <a:pt x="0" y="0"/>
                </a:moveTo>
                <a:lnTo>
                  <a:pt x="1320171" y="0"/>
                </a:lnTo>
                <a:lnTo>
                  <a:pt x="1320171" y="1790062"/>
                </a:lnTo>
                <a:lnTo>
                  <a:pt x="0" y="1790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339319" y="6773522"/>
            <a:ext cx="1806459" cy="2026883"/>
          </a:xfrm>
          <a:custGeom>
            <a:avLst/>
            <a:gdLst/>
            <a:ahLst/>
            <a:cxnLst/>
            <a:rect r="r" b="b" t="t" l="l"/>
            <a:pathLst>
              <a:path h="2026883" w="1806459">
                <a:moveTo>
                  <a:pt x="0" y="0"/>
                </a:moveTo>
                <a:lnTo>
                  <a:pt x="1806459" y="0"/>
                </a:lnTo>
                <a:lnTo>
                  <a:pt x="1806459" y="2026882"/>
                </a:lnTo>
                <a:lnTo>
                  <a:pt x="0" y="20268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934942" y="393389"/>
            <a:ext cx="1916332" cy="1916332"/>
          </a:xfrm>
          <a:custGeom>
            <a:avLst/>
            <a:gdLst/>
            <a:ahLst/>
            <a:cxnLst/>
            <a:rect r="r" b="b" t="t" l="l"/>
            <a:pathLst>
              <a:path h="1916332" w="1916332">
                <a:moveTo>
                  <a:pt x="0" y="0"/>
                </a:moveTo>
                <a:lnTo>
                  <a:pt x="1916331" y="0"/>
                </a:lnTo>
                <a:lnTo>
                  <a:pt x="1916331" y="1916331"/>
                </a:lnTo>
                <a:lnTo>
                  <a:pt x="0" y="19163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7260680" y="4069048"/>
            <a:ext cx="3540368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Aspiramos a conectar a las personas con el patrimonio cultural de Chile. Nuestra app convierte la visita física en una experiencia motivadora y educativa.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4357395"/>
            <a:ext cx="3760231" cy="2622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3"/>
              </a:lnSpc>
            </a:pPr>
            <a:r>
              <a:rPr lang="en-US" sz="250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Valor: Una experiencia simple, visual y confiable que documenta el recorrido personal del usuario.</a:t>
            </a:r>
          </a:p>
          <a:p>
            <a:pPr algn="ctr">
              <a:lnSpc>
                <a:spcPts val="3503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7332763" y="431065"/>
            <a:ext cx="384810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Visión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775612" y="2326278"/>
            <a:ext cx="1030814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Conectando con el patrimonio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478456" y="4222747"/>
            <a:ext cx="3528185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Grupo Objetivo: Jóvenes y adultos (16-40 años) que usan su teléfono como guía y disfrutan descubriendo la ciudad.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73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628306">
            <a:off x="-6393239" y="-1815195"/>
            <a:ext cx="14021011" cy="13917389"/>
            <a:chOff x="0" y="0"/>
            <a:chExt cx="18694681" cy="1855651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925976" cy="8925976"/>
              <a:chOff x="0" y="0"/>
              <a:chExt cx="6350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-7854274">
                <a:off x="-1303662" y="-1303662"/>
                <a:ext cx="6349820" cy="8957325"/>
              </a:xfrm>
              <a:custGeom>
                <a:avLst/>
                <a:gdLst/>
                <a:ahLst/>
                <a:cxnLst/>
                <a:rect r="r" b="b" t="t" l="l"/>
                <a:pathLst>
                  <a:path h="8957325" w="6349820">
                    <a:moveTo>
                      <a:pt x="4157987" y="0"/>
                    </a:moveTo>
                    <a:lnTo>
                      <a:pt x="0" y="4799337"/>
                    </a:lnTo>
                    <a:lnTo>
                      <a:pt x="4799337" y="8957324"/>
                    </a:lnTo>
                    <a:cubicBezTo>
                      <a:pt x="7095378" y="6307130"/>
                      <a:pt x="6808181" y="2296040"/>
                      <a:pt x="4157987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25820" t="0" r="-44780" b="0"/>
                </a:stretch>
              </a:blipFill>
            </p:spPr>
          </p:sp>
        </p:grpSp>
        <p:grpSp>
          <p:nvGrpSpPr>
            <p:cNvPr name="Group 5" id="5"/>
            <p:cNvGrpSpPr/>
            <p:nvPr/>
          </p:nvGrpSpPr>
          <p:grpSpPr>
            <a:xfrm rot="5400000">
              <a:off x="9768705" y="0"/>
              <a:ext cx="8925976" cy="8925976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-7790659">
                <a:off x="-1296962" y="-1296962"/>
                <a:ext cx="6349880" cy="8943924"/>
              </a:xfrm>
              <a:custGeom>
                <a:avLst/>
                <a:gdLst/>
                <a:ahLst/>
                <a:cxnLst/>
                <a:rect r="r" b="b" t="t" l="l"/>
                <a:pathLst>
                  <a:path h="8943924" w="6349880">
                    <a:moveTo>
                      <a:pt x="4068470" y="0"/>
                    </a:moveTo>
                    <a:lnTo>
                      <a:pt x="0" y="4875454"/>
                    </a:lnTo>
                    <a:lnTo>
                      <a:pt x="4875454" y="8943924"/>
                    </a:lnTo>
                    <a:cubicBezTo>
                      <a:pt x="7122063" y="6251698"/>
                      <a:pt x="6760696" y="2246609"/>
                      <a:pt x="406847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16715" t="0" r="-29946" b="-4125"/>
                </a:stretch>
              </a:blipFill>
            </p:spPr>
          </p:sp>
        </p:grpSp>
        <p:grpSp>
          <p:nvGrpSpPr>
            <p:cNvPr name="Group 7" id="7"/>
            <p:cNvGrpSpPr/>
            <p:nvPr/>
          </p:nvGrpSpPr>
          <p:grpSpPr>
            <a:xfrm rot="-10800000">
              <a:off x="9768705" y="9630543"/>
              <a:ext cx="8925976" cy="8925976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-7994417">
                <a:off x="-1313011" y="-1313011"/>
                <a:ext cx="6349734" cy="8976021"/>
              </a:xfrm>
              <a:custGeom>
                <a:avLst/>
                <a:gdLst/>
                <a:ahLst/>
                <a:cxnLst/>
                <a:rect r="r" b="b" t="t" l="l"/>
                <a:pathLst>
                  <a:path h="8976021" w="6349734">
                    <a:moveTo>
                      <a:pt x="4350128" y="0"/>
                    </a:moveTo>
                    <a:lnTo>
                      <a:pt x="0" y="4625894"/>
                    </a:lnTo>
                    <a:lnTo>
                      <a:pt x="4625894" y="8976022"/>
                    </a:lnTo>
                    <a:cubicBezTo>
                      <a:pt x="7028034" y="6421603"/>
                      <a:pt x="6904547" y="2402141"/>
                      <a:pt x="4350128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12637" t="0" r="-35607" b="0"/>
                </a:stretch>
              </a:blipFill>
            </p:spPr>
          </p:sp>
        </p:grpSp>
        <p:grpSp>
          <p:nvGrpSpPr>
            <p:cNvPr name="Group 9" id="9"/>
            <p:cNvGrpSpPr/>
            <p:nvPr/>
          </p:nvGrpSpPr>
          <p:grpSpPr>
            <a:xfrm rot="-5400000">
              <a:off x="0" y="9630543"/>
              <a:ext cx="8925976" cy="8925976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-7743096">
                <a:off x="-1290952" y="-1290952"/>
                <a:ext cx="6349932" cy="8931903"/>
              </a:xfrm>
              <a:custGeom>
                <a:avLst/>
                <a:gdLst/>
                <a:ahLst/>
                <a:cxnLst/>
                <a:rect r="r" b="b" t="t" l="l"/>
                <a:pathLst>
                  <a:path h="8931903" w="6349932">
                    <a:moveTo>
                      <a:pt x="4000628" y="0"/>
                    </a:moveTo>
                    <a:lnTo>
                      <a:pt x="0" y="4931276"/>
                    </a:lnTo>
                    <a:lnTo>
                      <a:pt x="4931276" y="8931904"/>
                    </a:lnTo>
                    <a:cubicBezTo>
                      <a:pt x="7140422" y="6208853"/>
                      <a:pt x="6723679" y="2209147"/>
                      <a:pt x="4000628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15863" t="0" r="-38384" b="0"/>
                </a:stretch>
              </a:blipFill>
            </p:spPr>
          </p:sp>
        </p:grpSp>
      </p:grpSp>
      <p:grpSp>
        <p:nvGrpSpPr>
          <p:cNvPr name="Group 11" id="11"/>
          <p:cNvGrpSpPr/>
          <p:nvPr/>
        </p:nvGrpSpPr>
        <p:grpSpPr>
          <a:xfrm rot="0">
            <a:off x="-3736713" y="2292679"/>
            <a:ext cx="5701642" cy="570164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736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624875" y="2785111"/>
            <a:ext cx="567130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Front end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94198" y="4256405"/>
            <a:ext cx="226135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5EC8F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Flutter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856240" y="786498"/>
            <a:ext cx="9171114" cy="830316"/>
            <a:chOff x="0" y="0"/>
            <a:chExt cx="4488820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88820" cy="406400"/>
            </a:xfrm>
            <a:custGeom>
              <a:avLst/>
              <a:gdLst/>
              <a:ahLst/>
              <a:cxnLst/>
              <a:rect r="r" b="b" t="t" l="l"/>
              <a:pathLst>
                <a:path h="406400" w="4488820">
                  <a:moveTo>
                    <a:pt x="4285620" y="0"/>
                  </a:moveTo>
                  <a:cubicBezTo>
                    <a:pt x="4397845" y="0"/>
                    <a:pt x="4488820" y="90976"/>
                    <a:pt x="4488820" y="203200"/>
                  </a:cubicBezTo>
                  <a:cubicBezTo>
                    <a:pt x="4488820" y="315424"/>
                    <a:pt x="4397845" y="406400"/>
                    <a:pt x="428562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EC96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4488820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330760" y="835629"/>
            <a:ext cx="10203120" cy="608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3"/>
              </a:lnSpc>
              <a:spcBef>
                <a:spcPct val="0"/>
              </a:spcBef>
            </a:pPr>
            <a:r>
              <a:rPr lang="en-US" sz="3202">
                <a:solidFill>
                  <a:srgbClr val="000000"/>
                </a:solidFill>
                <a:latin typeface="Tabarra Sans"/>
                <a:ea typeface="Tabarra Sans"/>
                <a:cs typeface="Tabarra Sans"/>
                <a:sym typeface="Tabarra Sans"/>
              </a:rPr>
              <a:t>Tecnologías usadas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494198" y="5370269"/>
            <a:ext cx="7349363" cy="2275912"/>
            <a:chOff x="0" y="0"/>
            <a:chExt cx="945633" cy="2928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45633" cy="292839"/>
            </a:xfrm>
            <a:custGeom>
              <a:avLst/>
              <a:gdLst/>
              <a:ahLst/>
              <a:cxnLst/>
              <a:rect r="r" b="b" t="t" l="l"/>
              <a:pathLst>
                <a:path h="292839" w="945633">
                  <a:moveTo>
                    <a:pt x="53494" y="0"/>
                  </a:moveTo>
                  <a:lnTo>
                    <a:pt x="892140" y="0"/>
                  </a:lnTo>
                  <a:cubicBezTo>
                    <a:pt x="906327" y="0"/>
                    <a:pt x="919933" y="5636"/>
                    <a:pt x="929965" y="15668"/>
                  </a:cubicBezTo>
                  <a:cubicBezTo>
                    <a:pt x="939997" y="25700"/>
                    <a:pt x="945633" y="39306"/>
                    <a:pt x="945633" y="53494"/>
                  </a:cubicBezTo>
                  <a:lnTo>
                    <a:pt x="945633" y="239345"/>
                  </a:lnTo>
                  <a:cubicBezTo>
                    <a:pt x="945633" y="268889"/>
                    <a:pt x="921683" y="292839"/>
                    <a:pt x="892140" y="292839"/>
                  </a:cubicBezTo>
                  <a:lnTo>
                    <a:pt x="53494" y="292839"/>
                  </a:lnTo>
                  <a:cubicBezTo>
                    <a:pt x="39306" y="292839"/>
                    <a:pt x="25700" y="287203"/>
                    <a:pt x="15668" y="277171"/>
                  </a:cubicBezTo>
                  <a:cubicBezTo>
                    <a:pt x="5636" y="267139"/>
                    <a:pt x="0" y="253532"/>
                    <a:pt x="0" y="239345"/>
                  </a:cubicBezTo>
                  <a:lnTo>
                    <a:pt x="0" y="53494"/>
                  </a:lnTo>
                  <a:cubicBezTo>
                    <a:pt x="0" y="23950"/>
                    <a:pt x="23950" y="0"/>
                    <a:pt x="53494" y="0"/>
                  </a:cubicBezTo>
                  <a:close/>
                </a:path>
              </a:pathLst>
            </a:custGeom>
            <a:solidFill>
              <a:srgbClr val="DEC96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945633" cy="378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688631" y="5656830"/>
            <a:ext cx="6960498" cy="198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1533" indent="-245766" lvl="1">
              <a:lnSpc>
                <a:spcPts val="3187"/>
              </a:lnSpc>
              <a:buFont typeface="Arial"/>
              <a:buChar char="•"/>
            </a:pPr>
            <a:r>
              <a:rPr lang="en-US" sz="227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227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ramework multiplataforma de código abierto</a:t>
            </a:r>
          </a:p>
          <a:p>
            <a:pPr algn="l" marL="491533" indent="-245766" lvl="1">
              <a:lnSpc>
                <a:spcPts val="3187"/>
              </a:lnSpc>
              <a:buFont typeface="Arial"/>
              <a:buChar char="•"/>
            </a:pPr>
            <a:r>
              <a:rPr lang="en-US" sz="227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Desarrollo rápido con hot reload</a:t>
            </a:r>
          </a:p>
          <a:p>
            <a:pPr algn="l" marL="491533" indent="-245766" lvl="1">
              <a:lnSpc>
                <a:spcPts val="3187"/>
              </a:lnSpc>
              <a:buFont typeface="Arial"/>
              <a:buChar char="•"/>
            </a:pPr>
            <a:r>
              <a:rPr lang="en-US" sz="227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Interfaz nativa en Android e iOS</a:t>
            </a:r>
          </a:p>
          <a:p>
            <a:pPr algn="l" marL="491533" indent="-245766" lvl="1">
              <a:lnSpc>
                <a:spcPts val="3187"/>
              </a:lnSpc>
              <a:buFont typeface="Arial"/>
              <a:buChar char="•"/>
            </a:pPr>
            <a:r>
              <a:rPr lang="en-US" sz="227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Alto rendimiento y experiencia de usuario fluida</a:t>
            </a:r>
          </a:p>
          <a:p>
            <a:pPr algn="l">
              <a:lnSpc>
                <a:spcPts val="3187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73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8100000">
            <a:off x="-6393239" y="-1815195"/>
            <a:ext cx="14021011" cy="13917389"/>
            <a:chOff x="0" y="0"/>
            <a:chExt cx="18694681" cy="1855651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925976" cy="8925976"/>
              <a:chOff x="0" y="0"/>
              <a:chExt cx="6350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-7854274">
                <a:off x="-1303662" y="-1303662"/>
                <a:ext cx="6349820" cy="8957325"/>
              </a:xfrm>
              <a:custGeom>
                <a:avLst/>
                <a:gdLst/>
                <a:ahLst/>
                <a:cxnLst/>
                <a:rect r="r" b="b" t="t" l="l"/>
                <a:pathLst>
                  <a:path h="8957325" w="6349820">
                    <a:moveTo>
                      <a:pt x="4157987" y="0"/>
                    </a:moveTo>
                    <a:lnTo>
                      <a:pt x="0" y="4799337"/>
                    </a:lnTo>
                    <a:lnTo>
                      <a:pt x="4799337" y="8957324"/>
                    </a:lnTo>
                    <a:cubicBezTo>
                      <a:pt x="7095378" y="6307130"/>
                      <a:pt x="6808181" y="2296040"/>
                      <a:pt x="4157987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25820" t="0" r="-44780" b="0"/>
                </a:stretch>
              </a:blipFill>
            </p:spPr>
          </p:sp>
        </p:grpSp>
        <p:grpSp>
          <p:nvGrpSpPr>
            <p:cNvPr name="Group 5" id="5"/>
            <p:cNvGrpSpPr/>
            <p:nvPr/>
          </p:nvGrpSpPr>
          <p:grpSpPr>
            <a:xfrm rot="5400000">
              <a:off x="9768705" y="0"/>
              <a:ext cx="8925976" cy="8925976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-7790659">
                <a:off x="-1296962" y="-1296962"/>
                <a:ext cx="6349880" cy="8943924"/>
              </a:xfrm>
              <a:custGeom>
                <a:avLst/>
                <a:gdLst/>
                <a:ahLst/>
                <a:cxnLst/>
                <a:rect r="r" b="b" t="t" l="l"/>
                <a:pathLst>
                  <a:path h="8943924" w="6349880">
                    <a:moveTo>
                      <a:pt x="4068470" y="0"/>
                    </a:moveTo>
                    <a:lnTo>
                      <a:pt x="0" y="4875454"/>
                    </a:lnTo>
                    <a:lnTo>
                      <a:pt x="4875454" y="8943924"/>
                    </a:lnTo>
                    <a:cubicBezTo>
                      <a:pt x="7122063" y="6251698"/>
                      <a:pt x="6760696" y="2246609"/>
                      <a:pt x="406847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16715" t="0" r="-29946" b="-4125"/>
                </a:stretch>
              </a:blipFill>
            </p:spPr>
          </p:sp>
        </p:grpSp>
        <p:grpSp>
          <p:nvGrpSpPr>
            <p:cNvPr name="Group 7" id="7"/>
            <p:cNvGrpSpPr/>
            <p:nvPr/>
          </p:nvGrpSpPr>
          <p:grpSpPr>
            <a:xfrm rot="-10800000">
              <a:off x="9768705" y="9630543"/>
              <a:ext cx="8925976" cy="8925976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-7994417">
                <a:off x="-1313011" y="-1313011"/>
                <a:ext cx="6349734" cy="8976021"/>
              </a:xfrm>
              <a:custGeom>
                <a:avLst/>
                <a:gdLst/>
                <a:ahLst/>
                <a:cxnLst/>
                <a:rect r="r" b="b" t="t" l="l"/>
                <a:pathLst>
                  <a:path h="8976021" w="6349734">
                    <a:moveTo>
                      <a:pt x="4350128" y="0"/>
                    </a:moveTo>
                    <a:lnTo>
                      <a:pt x="0" y="4625894"/>
                    </a:lnTo>
                    <a:lnTo>
                      <a:pt x="4625894" y="8976022"/>
                    </a:lnTo>
                    <a:cubicBezTo>
                      <a:pt x="7028034" y="6421603"/>
                      <a:pt x="6904547" y="2402141"/>
                      <a:pt x="4350128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12637" t="0" r="-35607" b="0"/>
                </a:stretch>
              </a:blipFill>
            </p:spPr>
          </p:sp>
        </p:grpSp>
        <p:grpSp>
          <p:nvGrpSpPr>
            <p:cNvPr name="Group 9" id="9"/>
            <p:cNvGrpSpPr/>
            <p:nvPr/>
          </p:nvGrpSpPr>
          <p:grpSpPr>
            <a:xfrm rot="-5400000">
              <a:off x="0" y="9630543"/>
              <a:ext cx="8925976" cy="8925976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-7743096">
                <a:off x="-1290952" y="-1290952"/>
                <a:ext cx="6349932" cy="8931903"/>
              </a:xfrm>
              <a:custGeom>
                <a:avLst/>
                <a:gdLst/>
                <a:ahLst/>
                <a:cxnLst/>
                <a:rect r="r" b="b" t="t" l="l"/>
                <a:pathLst>
                  <a:path h="8931903" w="6349932">
                    <a:moveTo>
                      <a:pt x="4000628" y="0"/>
                    </a:moveTo>
                    <a:lnTo>
                      <a:pt x="0" y="4931276"/>
                    </a:lnTo>
                    <a:lnTo>
                      <a:pt x="4931276" y="8931904"/>
                    </a:lnTo>
                    <a:cubicBezTo>
                      <a:pt x="7140422" y="6208853"/>
                      <a:pt x="6723679" y="2209147"/>
                      <a:pt x="4000628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15863" t="0" r="-38384" b="0"/>
                </a:stretch>
              </a:blipFill>
            </p:spPr>
          </p:sp>
        </p:grpSp>
      </p:grpSp>
      <p:grpSp>
        <p:nvGrpSpPr>
          <p:cNvPr name="Group 11" id="11"/>
          <p:cNvGrpSpPr/>
          <p:nvPr/>
        </p:nvGrpSpPr>
        <p:grpSpPr>
          <a:xfrm rot="0">
            <a:off x="-3736713" y="2292679"/>
            <a:ext cx="5701642" cy="570164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736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609369" y="2773886"/>
            <a:ext cx="567130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Front end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09369" y="4349652"/>
            <a:ext cx="525410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45DC8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Android Estudio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871826" y="787939"/>
            <a:ext cx="9127339" cy="830316"/>
            <a:chOff x="0" y="0"/>
            <a:chExt cx="4467395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67395" cy="406400"/>
            </a:xfrm>
            <a:custGeom>
              <a:avLst/>
              <a:gdLst/>
              <a:ahLst/>
              <a:cxnLst/>
              <a:rect r="r" b="b" t="t" l="l"/>
              <a:pathLst>
                <a:path h="406400" w="4467395">
                  <a:moveTo>
                    <a:pt x="4264195" y="0"/>
                  </a:moveTo>
                  <a:cubicBezTo>
                    <a:pt x="4376419" y="0"/>
                    <a:pt x="4467395" y="90976"/>
                    <a:pt x="4467395" y="203200"/>
                  </a:cubicBezTo>
                  <a:cubicBezTo>
                    <a:pt x="4467395" y="315424"/>
                    <a:pt x="4376419" y="406400"/>
                    <a:pt x="426419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EC96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4467395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354838" y="837070"/>
            <a:ext cx="10203120" cy="608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3"/>
              </a:lnSpc>
              <a:spcBef>
                <a:spcPct val="0"/>
              </a:spcBef>
            </a:pPr>
            <a:r>
              <a:rPr lang="en-US" sz="3202">
                <a:solidFill>
                  <a:srgbClr val="000000"/>
                </a:solidFill>
                <a:latin typeface="Tabarra Sans"/>
                <a:ea typeface="Tabarra Sans"/>
                <a:cs typeface="Tabarra Sans"/>
                <a:sym typeface="Tabarra Sans"/>
              </a:rPr>
              <a:t>Tecnologías usadas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330760" y="5693119"/>
            <a:ext cx="6451980" cy="1874096"/>
            <a:chOff x="0" y="0"/>
            <a:chExt cx="830168" cy="24113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30168" cy="241138"/>
            </a:xfrm>
            <a:custGeom>
              <a:avLst/>
              <a:gdLst/>
              <a:ahLst/>
              <a:cxnLst/>
              <a:rect r="r" b="b" t="t" l="l"/>
              <a:pathLst>
                <a:path h="241138" w="830168">
                  <a:moveTo>
                    <a:pt x="60934" y="0"/>
                  </a:moveTo>
                  <a:lnTo>
                    <a:pt x="769234" y="0"/>
                  </a:lnTo>
                  <a:cubicBezTo>
                    <a:pt x="802887" y="0"/>
                    <a:pt x="830168" y="27281"/>
                    <a:pt x="830168" y="60934"/>
                  </a:cubicBezTo>
                  <a:lnTo>
                    <a:pt x="830168" y="180204"/>
                  </a:lnTo>
                  <a:cubicBezTo>
                    <a:pt x="830168" y="213857"/>
                    <a:pt x="802887" y="241138"/>
                    <a:pt x="769234" y="241138"/>
                  </a:cubicBezTo>
                  <a:lnTo>
                    <a:pt x="60934" y="241138"/>
                  </a:lnTo>
                  <a:cubicBezTo>
                    <a:pt x="27281" y="241138"/>
                    <a:pt x="0" y="213857"/>
                    <a:pt x="0" y="180204"/>
                  </a:cubicBezTo>
                  <a:lnTo>
                    <a:pt x="0" y="60934"/>
                  </a:lnTo>
                  <a:cubicBezTo>
                    <a:pt x="0" y="27281"/>
                    <a:pt x="27281" y="0"/>
                    <a:pt x="60934" y="0"/>
                  </a:cubicBezTo>
                  <a:close/>
                </a:path>
              </a:pathLst>
            </a:custGeom>
            <a:solidFill>
              <a:srgbClr val="DEC96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830168" cy="326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525192" y="5979681"/>
            <a:ext cx="5815084" cy="1587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1533" indent="-245766" lvl="1">
              <a:lnSpc>
                <a:spcPts val="3187"/>
              </a:lnSpc>
              <a:buFont typeface="Arial"/>
              <a:buChar char="•"/>
            </a:pPr>
            <a:r>
              <a:rPr lang="en-US" sz="227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Emul</a:t>
            </a:r>
            <a:r>
              <a:rPr lang="en-US" sz="227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adores para pruebas de aplicación</a:t>
            </a:r>
          </a:p>
          <a:p>
            <a:pPr algn="l" marL="491533" indent="-245766" lvl="1">
              <a:lnSpc>
                <a:spcPts val="3187"/>
              </a:lnSpc>
              <a:buFont typeface="Arial"/>
              <a:buChar char="•"/>
            </a:pPr>
            <a:r>
              <a:rPr lang="en-US" sz="227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r>
              <a:rPr lang="en-US" sz="227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erramientas de debugging y profiling</a:t>
            </a:r>
          </a:p>
          <a:p>
            <a:pPr algn="l" marL="491533" indent="-245766" lvl="1">
              <a:lnSpc>
                <a:spcPts val="3187"/>
              </a:lnSpc>
              <a:buFont typeface="Arial"/>
              <a:buChar char="•"/>
            </a:pPr>
            <a:r>
              <a:rPr lang="en-US" sz="227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Integración con Google Play Console</a:t>
            </a:r>
          </a:p>
          <a:p>
            <a:pPr algn="l">
              <a:lnSpc>
                <a:spcPts val="3187"/>
              </a:lnSpc>
            </a:pP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73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8176494">
            <a:off x="-6393239" y="-1815195"/>
            <a:ext cx="14021011" cy="13917389"/>
            <a:chOff x="0" y="0"/>
            <a:chExt cx="18694681" cy="1855651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925976" cy="8925976"/>
              <a:chOff x="0" y="0"/>
              <a:chExt cx="6350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-7854274">
                <a:off x="-1303662" y="-1303662"/>
                <a:ext cx="6349820" cy="8957325"/>
              </a:xfrm>
              <a:custGeom>
                <a:avLst/>
                <a:gdLst/>
                <a:ahLst/>
                <a:cxnLst/>
                <a:rect r="r" b="b" t="t" l="l"/>
                <a:pathLst>
                  <a:path h="8957325" w="6349820">
                    <a:moveTo>
                      <a:pt x="4157987" y="0"/>
                    </a:moveTo>
                    <a:lnTo>
                      <a:pt x="0" y="4799337"/>
                    </a:lnTo>
                    <a:lnTo>
                      <a:pt x="4799337" y="8957324"/>
                    </a:lnTo>
                    <a:cubicBezTo>
                      <a:pt x="7095378" y="6307130"/>
                      <a:pt x="6808181" y="2296040"/>
                      <a:pt x="4157987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25820" t="0" r="-44780" b="0"/>
                </a:stretch>
              </a:blipFill>
            </p:spPr>
          </p:sp>
        </p:grpSp>
        <p:grpSp>
          <p:nvGrpSpPr>
            <p:cNvPr name="Group 5" id="5"/>
            <p:cNvGrpSpPr/>
            <p:nvPr/>
          </p:nvGrpSpPr>
          <p:grpSpPr>
            <a:xfrm rot="5400000">
              <a:off x="9768705" y="0"/>
              <a:ext cx="8925976" cy="8925976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-7790659">
                <a:off x="-1296962" y="-1296962"/>
                <a:ext cx="6349880" cy="8943924"/>
              </a:xfrm>
              <a:custGeom>
                <a:avLst/>
                <a:gdLst/>
                <a:ahLst/>
                <a:cxnLst/>
                <a:rect r="r" b="b" t="t" l="l"/>
                <a:pathLst>
                  <a:path h="8943924" w="6349880">
                    <a:moveTo>
                      <a:pt x="4068470" y="0"/>
                    </a:moveTo>
                    <a:lnTo>
                      <a:pt x="0" y="4875454"/>
                    </a:lnTo>
                    <a:lnTo>
                      <a:pt x="4875454" y="8943924"/>
                    </a:lnTo>
                    <a:cubicBezTo>
                      <a:pt x="7122063" y="6251698"/>
                      <a:pt x="6760696" y="2246609"/>
                      <a:pt x="406847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16715" t="0" r="-29946" b="-4125"/>
                </a:stretch>
              </a:blipFill>
            </p:spPr>
          </p:sp>
        </p:grpSp>
        <p:grpSp>
          <p:nvGrpSpPr>
            <p:cNvPr name="Group 7" id="7"/>
            <p:cNvGrpSpPr/>
            <p:nvPr/>
          </p:nvGrpSpPr>
          <p:grpSpPr>
            <a:xfrm rot="-10800000">
              <a:off x="9768705" y="9630543"/>
              <a:ext cx="8925976" cy="8925976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-7994417">
                <a:off x="-1313011" y="-1313011"/>
                <a:ext cx="6349734" cy="8976021"/>
              </a:xfrm>
              <a:custGeom>
                <a:avLst/>
                <a:gdLst/>
                <a:ahLst/>
                <a:cxnLst/>
                <a:rect r="r" b="b" t="t" l="l"/>
                <a:pathLst>
                  <a:path h="8976021" w="6349734">
                    <a:moveTo>
                      <a:pt x="4350128" y="0"/>
                    </a:moveTo>
                    <a:lnTo>
                      <a:pt x="0" y="4625894"/>
                    </a:lnTo>
                    <a:lnTo>
                      <a:pt x="4625894" y="8976022"/>
                    </a:lnTo>
                    <a:cubicBezTo>
                      <a:pt x="7028034" y="6421603"/>
                      <a:pt x="6904547" y="2402141"/>
                      <a:pt x="4350128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12637" t="0" r="-35607" b="0"/>
                </a:stretch>
              </a:blipFill>
            </p:spPr>
          </p:sp>
        </p:grpSp>
        <p:grpSp>
          <p:nvGrpSpPr>
            <p:cNvPr name="Group 9" id="9"/>
            <p:cNvGrpSpPr/>
            <p:nvPr/>
          </p:nvGrpSpPr>
          <p:grpSpPr>
            <a:xfrm rot="-5400000">
              <a:off x="0" y="9630543"/>
              <a:ext cx="8925976" cy="8925976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-7743096">
                <a:off x="-1290952" y="-1290952"/>
                <a:ext cx="6349932" cy="8931903"/>
              </a:xfrm>
              <a:custGeom>
                <a:avLst/>
                <a:gdLst/>
                <a:ahLst/>
                <a:cxnLst/>
                <a:rect r="r" b="b" t="t" l="l"/>
                <a:pathLst>
                  <a:path h="8931903" w="6349932">
                    <a:moveTo>
                      <a:pt x="4000628" y="0"/>
                    </a:moveTo>
                    <a:lnTo>
                      <a:pt x="0" y="4931276"/>
                    </a:lnTo>
                    <a:lnTo>
                      <a:pt x="4931276" y="8931904"/>
                    </a:lnTo>
                    <a:cubicBezTo>
                      <a:pt x="7140422" y="6208853"/>
                      <a:pt x="6723679" y="2209147"/>
                      <a:pt x="4000628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15863" t="0" r="-38384" b="0"/>
                </a:stretch>
              </a:blipFill>
            </p:spPr>
          </p:sp>
        </p:grpSp>
      </p:grpSp>
      <p:grpSp>
        <p:nvGrpSpPr>
          <p:cNvPr name="Group 11" id="11"/>
          <p:cNvGrpSpPr/>
          <p:nvPr/>
        </p:nvGrpSpPr>
        <p:grpSpPr>
          <a:xfrm rot="0">
            <a:off x="-3736713" y="2292679"/>
            <a:ext cx="5701642" cy="570164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736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493353" y="2851911"/>
            <a:ext cx="531709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 </a:t>
            </a:r>
            <a:r>
              <a:rPr lang="en-US" b="true" sz="9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17178" y="4323205"/>
            <a:ext cx="278915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ABC0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Firebase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875497" y="766636"/>
            <a:ext cx="9061677" cy="830316"/>
            <a:chOff x="0" y="0"/>
            <a:chExt cx="4435256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35256" cy="406400"/>
            </a:xfrm>
            <a:custGeom>
              <a:avLst/>
              <a:gdLst/>
              <a:ahLst/>
              <a:cxnLst/>
              <a:rect r="r" b="b" t="t" l="l"/>
              <a:pathLst>
                <a:path h="406400" w="4435256">
                  <a:moveTo>
                    <a:pt x="4232056" y="0"/>
                  </a:moveTo>
                  <a:cubicBezTo>
                    <a:pt x="4344281" y="0"/>
                    <a:pt x="4435256" y="90976"/>
                    <a:pt x="4435256" y="203200"/>
                  </a:cubicBezTo>
                  <a:cubicBezTo>
                    <a:pt x="4435256" y="315424"/>
                    <a:pt x="4344281" y="406400"/>
                    <a:pt x="423205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EC96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4435256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360036" y="815767"/>
            <a:ext cx="10203120" cy="608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3"/>
              </a:lnSpc>
              <a:spcBef>
                <a:spcPct val="0"/>
              </a:spcBef>
            </a:pPr>
            <a:r>
              <a:rPr lang="en-US" sz="3202">
                <a:solidFill>
                  <a:srgbClr val="000000"/>
                </a:solidFill>
                <a:latin typeface="Tabarra Sans"/>
                <a:ea typeface="Tabarra Sans"/>
                <a:cs typeface="Tabarra Sans"/>
                <a:sym typeface="Tabarra Sans"/>
              </a:rPr>
              <a:t>Tecnologías usadas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030344" y="5703729"/>
            <a:ext cx="6152187" cy="1742772"/>
            <a:chOff x="0" y="0"/>
            <a:chExt cx="791594" cy="224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91594" cy="224240"/>
            </a:xfrm>
            <a:custGeom>
              <a:avLst/>
              <a:gdLst/>
              <a:ahLst/>
              <a:cxnLst/>
              <a:rect r="r" b="b" t="t" l="l"/>
              <a:pathLst>
                <a:path h="224240" w="791594">
                  <a:moveTo>
                    <a:pt x="63903" y="0"/>
                  </a:moveTo>
                  <a:lnTo>
                    <a:pt x="727691" y="0"/>
                  </a:lnTo>
                  <a:cubicBezTo>
                    <a:pt x="744639" y="0"/>
                    <a:pt x="760893" y="6733"/>
                    <a:pt x="772877" y="18717"/>
                  </a:cubicBezTo>
                  <a:cubicBezTo>
                    <a:pt x="784862" y="30701"/>
                    <a:pt x="791594" y="46955"/>
                    <a:pt x="791594" y="63903"/>
                  </a:cubicBezTo>
                  <a:lnTo>
                    <a:pt x="791594" y="160337"/>
                  </a:lnTo>
                  <a:cubicBezTo>
                    <a:pt x="791594" y="177285"/>
                    <a:pt x="784862" y="193539"/>
                    <a:pt x="772877" y="205524"/>
                  </a:cubicBezTo>
                  <a:cubicBezTo>
                    <a:pt x="760893" y="217508"/>
                    <a:pt x="744639" y="224240"/>
                    <a:pt x="727691" y="224240"/>
                  </a:cubicBezTo>
                  <a:lnTo>
                    <a:pt x="63903" y="224240"/>
                  </a:lnTo>
                  <a:cubicBezTo>
                    <a:pt x="46955" y="224240"/>
                    <a:pt x="30701" y="217508"/>
                    <a:pt x="18717" y="205524"/>
                  </a:cubicBezTo>
                  <a:cubicBezTo>
                    <a:pt x="6733" y="193539"/>
                    <a:pt x="0" y="177285"/>
                    <a:pt x="0" y="160337"/>
                  </a:cubicBezTo>
                  <a:lnTo>
                    <a:pt x="0" y="63903"/>
                  </a:lnTo>
                  <a:cubicBezTo>
                    <a:pt x="0" y="46955"/>
                    <a:pt x="6733" y="30701"/>
                    <a:pt x="18717" y="18717"/>
                  </a:cubicBezTo>
                  <a:cubicBezTo>
                    <a:pt x="30701" y="6733"/>
                    <a:pt x="46955" y="0"/>
                    <a:pt x="63903" y="0"/>
                  </a:cubicBezTo>
                  <a:close/>
                </a:path>
              </a:pathLst>
            </a:custGeom>
            <a:solidFill>
              <a:srgbClr val="DEC96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791594" cy="309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279935" y="5858966"/>
            <a:ext cx="5902597" cy="200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664" indent="-205332" lvl="1">
              <a:lnSpc>
                <a:spcPts val="2662"/>
              </a:lnSpc>
              <a:buFont typeface="Arial"/>
              <a:buChar char="•"/>
            </a:pPr>
            <a:r>
              <a:rPr lang="en-US" sz="190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Autentic</a:t>
            </a:r>
            <a:r>
              <a:rPr lang="en-US" sz="190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ación de usuarios (Email/Contraseña)</a:t>
            </a:r>
          </a:p>
          <a:p>
            <a:pPr algn="l" marL="410664" indent="-205332" lvl="1">
              <a:lnSpc>
                <a:spcPts val="2662"/>
              </a:lnSpc>
              <a:buFont typeface="Arial"/>
              <a:buChar char="•"/>
            </a:pPr>
            <a:r>
              <a:rPr lang="en-US" sz="190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Base de datos en tiempo real (Firestore)</a:t>
            </a:r>
          </a:p>
          <a:p>
            <a:pPr algn="l" marL="410664" indent="-205332" lvl="1">
              <a:lnSpc>
                <a:spcPts val="2662"/>
              </a:lnSpc>
              <a:buFont typeface="Arial"/>
              <a:buChar char="•"/>
            </a:pPr>
            <a:r>
              <a:rPr lang="en-US" sz="190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Almacenamiento en la nube (Cloud Storage)</a:t>
            </a:r>
          </a:p>
          <a:p>
            <a:pPr algn="l" marL="410664" indent="-205332" lvl="1">
              <a:lnSpc>
                <a:spcPts val="2662"/>
              </a:lnSpc>
              <a:buFont typeface="Arial"/>
              <a:buChar char="•"/>
            </a:pPr>
            <a:r>
              <a:rPr lang="en-US" sz="190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190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eglas de seguridad y control de acceso</a:t>
            </a:r>
          </a:p>
          <a:p>
            <a:pPr algn="l">
              <a:lnSpc>
                <a:spcPts val="2662"/>
              </a:lnSpc>
            </a:pPr>
          </a:p>
          <a:p>
            <a:pPr algn="l">
              <a:lnSpc>
                <a:spcPts val="2662"/>
              </a:lnSpc>
            </a:pP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73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-6393239" y="-1815195"/>
            <a:ext cx="14021011" cy="13917389"/>
            <a:chOff x="0" y="0"/>
            <a:chExt cx="18694681" cy="1855651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925976" cy="8925976"/>
              <a:chOff x="0" y="0"/>
              <a:chExt cx="6350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-7854274">
                <a:off x="-1303662" y="-1303662"/>
                <a:ext cx="6349820" cy="8957325"/>
              </a:xfrm>
              <a:custGeom>
                <a:avLst/>
                <a:gdLst/>
                <a:ahLst/>
                <a:cxnLst/>
                <a:rect r="r" b="b" t="t" l="l"/>
                <a:pathLst>
                  <a:path h="8957325" w="6349820">
                    <a:moveTo>
                      <a:pt x="4157987" y="0"/>
                    </a:moveTo>
                    <a:lnTo>
                      <a:pt x="0" y="4799337"/>
                    </a:lnTo>
                    <a:lnTo>
                      <a:pt x="4799337" y="8957324"/>
                    </a:lnTo>
                    <a:cubicBezTo>
                      <a:pt x="7095378" y="6307130"/>
                      <a:pt x="6808181" y="2296040"/>
                      <a:pt x="4157987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25820" t="0" r="-44780" b="0"/>
                </a:stretch>
              </a:blipFill>
            </p:spPr>
          </p:sp>
        </p:grpSp>
        <p:grpSp>
          <p:nvGrpSpPr>
            <p:cNvPr name="Group 5" id="5"/>
            <p:cNvGrpSpPr/>
            <p:nvPr/>
          </p:nvGrpSpPr>
          <p:grpSpPr>
            <a:xfrm rot="5400000">
              <a:off x="9768705" y="0"/>
              <a:ext cx="8925976" cy="8925976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-7790659">
                <a:off x="-1296962" y="-1296962"/>
                <a:ext cx="6349880" cy="8943924"/>
              </a:xfrm>
              <a:custGeom>
                <a:avLst/>
                <a:gdLst/>
                <a:ahLst/>
                <a:cxnLst/>
                <a:rect r="r" b="b" t="t" l="l"/>
                <a:pathLst>
                  <a:path h="8943924" w="6349880">
                    <a:moveTo>
                      <a:pt x="4068470" y="0"/>
                    </a:moveTo>
                    <a:lnTo>
                      <a:pt x="0" y="4875454"/>
                    </a:lnTo>
                    <a:lnTo>
                      <a:pt x="4875454" y="8943924"/>
                    </a:lnTo>
                    <a:cubicBezTo>
                      <a:pt x="7122063" y="6251698"/>
                      <a:pt x="6760696" y="2246609"/>
                      <a:pt x="406847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16715" t="0" r="-29946" b="-4125"/>
                </a:stretch>
              </a:blipFill>
            </p:spPr>
          </p:sp>
        </p:grpSp>
        <p:grpSp>
          <p:nvGrpSpPr>
            <p:cNvPr name="Group 7" id="7"/>
            <p:cNvGrpSpPr/>
            <p:nvPr/>
          </p:nvGrpSpPr>
          <p:grpSpPr>
            <a:xfrm rot="-10800000">
              <a:off x="9768705" y="9630543"/>
              <a:ext cx="8925976" cy="8925976"/>
              <a:chOff x="0" y="0"/>
              <a:chExt cx="6350000" cy="635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-7994417">
                <a:off x="-1313011" y="-1313011"/>
                <a:ext cx="6349734" cy="8976021"/>
              </a:xfrm>
              <a:custGeom>
                <a:avLst/>
                <a:gdLst/>
                <a:ahLst/>
                <a:cxnLst/>
                <a:rect r="r" b="b" t="t" l="l"/>
                <a:pathLst>
                  <a:path h="8976021" w="6349734">
                    <a:moveTo>
                      <a:pt x="4350128" y="0"/>
                    </a:moveTo>
                    <a:lnTo>
                      <a:pt x="0" y="4625894"/>
                    </a:lnTo>
                    <a:lnTo>
                      <a:pt x="4625894" y="8976022"/>
                    </a:lnTo>
                    <a:cubicBezTo>
                      <a:pt x="7028034" y="6421603"/>
                      <a:pt x="6904547" y="2402141"/>
                      <a:pt x="4350128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12637" t="0" r="-35607" b="0"/>
                </a:stretch>
              </a:blipFill>
            </p:spPr>
          </p:sp>
        </p:grpSp>
        <p:grpSp>
          <p:nvGrpSpPr>
            <p:cNvPr name="Group 9" id="9"/>
            <p:cNvGrpSpPr/>
            <p:nvPr/>
          </p:nvGrpSpPr>
          <p:grpSpPr>
            <a:xfrm rot="-5400000">
              <a:off x="0" y="9630543"/>
              <a:ext cx="8925976" cy="8925976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-7743096">
                <a:off x="-1290952" y="-1290952"/>
                <a:ext cx="6349932" cy="8931903"/>
              </a:xfrm>
              <a:custGeom>
                <a:avLst/>
                <a:gdLst/>
                <a:ahLst/>
                <a:cxnLst/>
                <a:rect r="r" b="b" t="t" l="l"/>
                <a:pathLst>
                  <a:path h="8931903" w="6349932">
                    <a:moveTo>
                      <a:pt x="4000628" y="0"/>
                    </a:moveTo>
                    <a:lnTo>
                      <a:pt x="0" y="4931276"/>
                    </a:lnTo>
                    <a:lnTo>
                      <a:pt x="4931276" y="8931904"/>
                    </a:lnTo>
                    <a:cubicBezTo>
                      <a:pt x="7140422" y="6208853"/>
                      <a:pt x="6723679" y="2209147"/>
                      <a:pt x="4000628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15863" t="0" r="-38384" b="0"/>
                </a:stretch>
              </a:blipFill>
            </p:spPr>
          </p:sp>
        </p:grpSp>
      </p:grpSp>
      <p:grpSp>
        <p:nvGrpSpPr>
          <p:cNvPr name="Group 11" id="11"/>
          <p:cNvGrpSpPr/>
          <p:nvPr/>
        </p:nvGrpSpPr>
        <p:grpSpPr>
          <a:xfrm rot="0">
            <a:off x="-3736713" y="2292679"/>
            <a:ext cx="5701642" cy="570164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736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494983" y="2872986"/>
            <a:ext cx="531709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 </a:t>
            </a:r>
            <a:r>
              <a:rPr lang="en-US" b="true" sz="92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82980" y="4344281"/>
            <a:ext cx="560534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ABC0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Google map (API)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854814" y="777667"/>
            <a:ext cx="9061677" cy="830316"/>
            <a:chOff x="0" y="0"/>
            <a:chExt cx="4435256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35256" cy="406400"/>
            </a:xfrm>
            <a:custGeom>
              <a:avLst/>
              <a:gdLst/>
              <a:ahLst/>
              <a:cxnLst/>
              <a:rect r="r" b="b" t="t" l="l"/>
              <a:pathLst>
                <a:path h="406400" w="4435256">
                  <a:moveTo>
                    <a:pt x="4232056" y="0"/>
                  </a:moveTo>
                  <a:cubicBezTo>
                    <a:pt x="4344281" y="0"/>
                    <a:pt x="4435256" y="90976"/>
                    <a:pt x="4435256" y="203200"/>
                  </a:cubicBezTo>
                  <a:cubicBezTo>
                    <a:pt x="4435256" y="315424"/>
                    <a:pt x="4344281" y="406400"/>
                    <a:pt x="423205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EC96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4435256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373108" y="826798"/>
            <a:ext cx="10203120" cy="608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3"/>
              </a:lnSpc>
              <a:spcBef>
                <a:spcPct val="0"/>
              </a:spcBef>
            </a:pPr>
            <a:r>
              <a:rPr lang="en-US" sz="3202">
                <a:solidFill>
                  <a:srgbClr val="000000"/>
                </a:solidFill>
                <a:latin typeface="Tabarra Sans"/>
                <a:ea typeface="Tabarra Sans"/>
                <a:cs typeface="Tabarra Sans"/>
                <a:sym typeface="Tabarra Sans"/>
              </a:rPr>
              <a:t>Tecnologías usadas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828614" y="5703729"/>
            <a:ext cx="5057818" cy="1108038"/>
            <a:chOff x="0" y="0"/>
            <a:chExt cx="650783" cy="1425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0783" cy="142570"/>
            </a:xfrm>
            <a:custGeom>
              <a:avLst/>
              <a:gdLst/>
              <a:ahLst/>
              <a:cxnLst/>
              <a:rect r="r" b="b" t="t" l="l"/>
              <a:pathLst>
                <a:path h="142570" w="650783">
                  <a:moveTo>
                    <a:pt x="71285" y="0"/>
                  </a:moveTo>
                  <a:lnTo>
                    <a:pt x="579498" y="0"/>
                  </a:lnTo>
                  <a:cubicBezTo>
                    <a:pt x="598404" y="0"/>
                    <a:pt x="616536" y="7510"/>
                    <a:pt x="629904" y="20879"/>
                  </a:cubicBezTo>
                  <a:cubicBezTo>
                    <a:pt x="643273" y="34247"/>
                    <a:pt x="650783" y="52379"/>
                    <a:pt x="650783" y="71285"/>
                  </a:cubicBezTo>
                  <a:lnTo>
                    <a:pt x="650783" y="71285"/>
                  </a:lnTo>
                  <a:cubicBezTo>
                    <a:pt x="650783" y="110655"/>
                    <a:pt x="618868" y="142570"/>
                    <a:pt x="579498" y="142570"/>
                  </a:cubicBezTo>
                  <a:lnTo>
                    <a:pt x="71285" y="142570"/>
                  </a:lnTo>
                  <a:cubicBezTo>
                    <a:pt x="52379" y="142570"/>
                    <a:pt x="34247" y="135060"/>
                    <a:pt x="20879" y="121691"/>
                  </a:cubicBezTo>
                  <a:cubicBezTo>
                    <a:pt x="7510" y="108322"/>
                    <a:pt x="0" y="90191"/>
                    <a:pt x="0" y="71285"/>
                  </a:cubicBezTo>
                  <a:lnTo>
                    <a:pt x="0" y="71285"/>
                  </a:lnTo>
                  <a:cubicBezTo>
                    <a:pt x="0" y="52379"/>
                    <a:pt x="7510" y="34247"/>
                    <a:pt x="20879" y="20879"/>
                  </a:cubicBezTo>
                  <a:cubicBezTo>
                    <a:pt x="34247" y="7510"/>
                    <a:pt x="52379" y="0"/>
                    <a:pt x="71285" y="0"/>
                  </a:cubicBezTo>
                  <a:close/>
                </a:path>
              </a:pathLst>
            </a:custGeom>
            <a:solidFill>
              <a:srgbClr val="DEC96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650783" cy="2282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078205" y="5858966"/>
            <a:ext cx="5902597" cy="1332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664" indent="-205332" lvl="1">
              <a:lnSpc>
                <a:spcPts val="2662"/>
              </a:lnSpc>
              <a:buFont typeface="Arial"/>
              <a:buChar char="•"/>
            </a:pPr>
            <a:r>
              <a:rPr lang="en-US" sz="190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Visualiz</a:t>
            </a:r>
            <a:r>
              <a:rPr lang="en-US" sz="190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ación de mapas interactivos</a:t>
            </a:r>
          </a:p>
          <a:p>
            <a:pPr algn="l" marL="410664" indent="-205332" lvl="1">
              <a:lnSpc>
                <a:spcPts val="2662"/>
              </a:lnSpc>
              <a:buFont typeface="Arial"/>
              <a:buChar char="•"/>
            </a:pPr>
            <a:r>
              <a:rPr lang="en-US" sz="190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r>
              <a:rPr lang="en-US" sz="190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eolocalización en tiempo real</a:t>
            </a:r>
          </a:p>
          <a:p>
            <a:pPr algn="l">
              <a:lnSpc>
                <a:spcPts val="2662"/>
              </a:lnSpc>
            </a:pPr>
          </a:p>
          <a:p>
            <a:pPr algn="l">
              <a:lnSpc>
                <a:spcPts val="2662"/>
              </a:lnSpc>
            </a:pP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73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6424" y="296441"/>
            <a:ext cx="17333592" cy="9805808"/>
            <a:chOff x="0" y="0"/>
            <a:chExt cx="4565226" cy="2582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5226" cy="2582600"/>
            </a:xfrm>
            <a:custGeom>
              <a:avLst/>
              <a:gdLst/>
              <a:ahLst/>
              <a:cxnLst/>
              <a:rect r="r" b="b" t="t" l="l"/>
              <a:pathLst>
                <a:path h="2582600" w="4565226">
                  <a:moveTo>
                    <a:pt x="22779" y="0"/>
                  </a:moveTo>
                  <a:lnTo>
                    <a:pt x="4542447" y="0"/>
                  </a:lnTo>
                  <a:cubicBezTo>
                    <a:pt x="4548489" y="0"/>
                    <a:pt x="4554282" y="2400"/>
                    <a:pt x="4558554" y="6672"/>
                  </a:cubicBezTo>
                  <a:cubicBezTo>
                    <a:pt x="4562826" y="10944"/>
                    <a:pt x="4565226" y="16737"/>
                    <a:pt x="4565226" y="22779"/>
                  </a:cubicBezTo>
                  <a:lnTo>
                    <a:pt x="4565226" y="2559821"/>
                  </a:lnTo>
                  <a:cubicBezTo>
                    <a:pt x="4565226" y="2572401"/>
                    <a:pt x="4555028" y="2582600"/>
                    <a:pt x="4542447" y="2582600"/>
                  </a:cubicBezTo>
                  <a:lnTo>
                    <a:pt x="22779" y="2582600"/>
                  </a:lnTo>
                  <a:cubicBezTo>
                    <a:pt x="16737" y="2582600"/>
                    <a:pt x="10944" y="2580200"/>
                    <a:pt x="6672" y="2575928"/>
                  </a:cubicBezTo>
                  <a:cubicBezTo>
                    <a:pt x="2400" y="2571656"/>
                    <a:pt x="0" y="2565862"/>
                    <a:pt x="0" y="2559821"/>
                  </a:cubicBezTo>
                  <a:lnTo>
                    <a:pt x="0" y="22779"/>
                  </a:lnTo>
                  <a:cubicBezTo>
                    <a:pt x="0" y="16737"/>
                    <a:pt x="2400" y="10944"/>
                    <a:pt x="6672" y="6672"/>
                  </a:cubicBezTo>
                  <a:cubicBezTo>
                    <a:pt x="10944" y="2400"/>
                    <a:pt x="16737" y="0"/>
                    <a:pt x="227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565226" cy="2658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18575" y="2803737"/>
            <a:ext cx="4039672" cy="2339763"/>
            <a:chOff x="0" y="0"/>
            <a:chExt cx="1063947" cy="6162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3947" cy="616234"/>
            </a:xfrm>
            <a:custGeom>
              <a:avLst/>
              <a:gdLst/>
              <a:ahLst/>
              <a:cxnLst/>
              <a:rect r="r" b="b" t="t" l="l"/>
              <a:pathLst>
                <a:path h="616234" w="1063947">
                  <a:moveTo>
                    <a:pt x="97740" y="0"/>
                  </a:moveTo>
                  <a:lnTo>
                    <a:pt x="966207" y="0"/>
                  </a:lnTo>
                  <a:cubicBezTo>
                    <a:pt x="1020187" y="0"/>
                    <a:pt x="1063947" y="43760"/>
                    <a:pt x="1063947" y="97740"/>
                  </a:cubicBezTo>
                  <a:lnTo>
                    <a:pt x="1063947" y="518494"/>
                  </a:lnTo>
                  <a:cubicBezTo>
                    <a:pt x="1063947" y="572474"/>
                    <a:pt x="1020187" y="616234"/>
                    <a:pt x="966207" y="616234"/>
                  </a:cubicBezTo>
                  <a:lnTo>
                    <a:pt x="97740" y="616234"/>
                  </a:lnTo>
                  <a:cubicBezTo>
                    <a:pt x="71818" y="616234"/>
                    <a:pt x="46957" y="605936"/>
                    <a:pt x="28627" y="587606"/>
                  </a:cubicBezTo>
                  <a:cubicBezTo>
                    <a:pt x="10298" y="569277"/>
                    <a:pt x="0" y="544416"/>
                    <a:pt x="0" y="518494"/>
                  </a:cubicBezTo>
                  <a:lnTo>
                    <a:pt x="0" y="97740"/>
                  </a:lnTo>
                  <a:cubicBezTo>
                    <a:pt x="0" y="43760"/>
                    <a:pt x="43760" y="0"/>
                    <a:pt x="97740" y="0"/>
                  </a:cubicBezTo>
                  <a:close/>
                </a:path>
              </a:pathLst>
            </a:custGeom>
            <a:solidFill>
              <a:srgbClr val="E9EFEB"/>
            </a:solidFill>
            <a:ln w="38100" cap="rnd">
              <a:solidFill>
                <a:srgbClr val="FFD065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63947" cy="654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579393" y="2803737"/>
            <a:ext cx="4270955" cy="2339763"/>
            <a:chOff x="0" y="0"/>
            <a:chExt cx="1124860" cy="6162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24860" cy="616234"/>
            </a:xfrm>
            <a:custGeom>
              <a:avLst/>
              <a:gdLst/>
              <a:ahLst/>
              <a:cxnLst/>
              <a:rect r="r" b="b" t="t" l="l"/>
              <a:pathLst>
                <a:path h="616234" w="1124860">
                  <a:moveTo>
                    <a:pt x="92447" y="0"/>
                  </a:moveTo>
                  <a:lnTo>
                    <a:pt x="1032413" y="0"/>
                  </a:lnTo>
                  <a:cubicBezTo>
                    <a:pt x="1083470" y="0"/>
                    <a:pt x="1124860" y="41390"/>
                    <a:pt x="1124860" y="92447"/>
                  </a:cubicBezTo>
                  <a:lnTo>
                    <a:pt x="1124860" y="523787"/>
                  </a:lnTo>
                  <a:cubicBezTo>
                    <a:pt x="1124860" y="574844"/>
                    <a:pt x="1083470" y="616234"/>
                    <a:pt x="1032413" y="616234"/>
                  </a:cubicBezTo>
                  <a:lnTo>
                    <a:pt x="92447" y="616234"/>
                  </a:lnTo>
                  <a:cubicBezTo>
                    <a:pt x="67929" y="616234"/>
                    <a:pt x="44414" y="606494"/>
                    <a:pt x="27077" y="589157"/>
                  </a:cubicBezTo>
                  <a:cubicBezTo>
                    <a:pt x="9740" y="571819"/>
                    <a:pt x="0" y="548305"/>
                    <a:pt x="0" y="523787"/>
                  </a:cubicBezTo>
                  <a:lnTo>
                    <a:pt x="0" y="92447"/>
                  </a:lnTo>
                  <a:cubicBezTo>
                    <a:pt x="0" y="67929"/>
                    <a:pt x="9740" y="44414"/>
                    <a:pt x="27077" y="27077"/>
                  </a:cubicBezTo>
                  <a:cubicBezTo>
                    <a:pt x="44414" y="9740"/>
                    <a:pt x="67929" y="0"/>
                    <a:pt x="92447" y="0"/>
                  </a:cubicBezTo>
                  <a:close/>
                </a:path>
              </a:pathLst>
            </a:custGeom>
            <a:solidFill>
              <a:srgbClr val="E9EFEB"/>
            </a:solidFill>
            <a:ln w="38100" cap="rnd">
              <a:solidFill>
                <a:srgbClr val="FFD065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24860" cy="6543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022837" y="2803737"/>
            <a:ext cx="3801098" cy="2354502"/>
            <a:chOff x="0" y="0"/>
            <a:chExt cx="1001112" cy="6201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1112" cy="620116"/>
            </a:xfrm>
            <a:custGeom>
              <a:avLst/>
              <a:gdLst/>
              <a:ahLst/>
              <a:cxnLst/>
              <a:rect r="r" b="b" t="t" l="l"/>
              <a:pathLst>
                <a:path h="620116" w="1001112">
                  <a:moveTo>
                    <a:pt x="103875" y="0"/>
                  </a:moveTo>
                  <a:lnTo>
                    <a:pt x="897238" y="0"/>
                  </a:lnTo>
                  <a:cubicBezTo>
                    <a:pt x="954606" y="0"/>
                    <a:pt x="1001112" y="46506"/>
                    <a:pt x="1001112" y="103875"/>
                  </a:cubicBezTo>
                  <a:lnTo>
                    <a:pt x="1001112" y="516241"/>
                  </a:lnTo>
                  <a:cubicBezTo>
                    <a:pt x="1001112" y="573610"/>
                    <a:pt x="954606" y="620116"/>
                    <a:pt x="897238" y="620116"/>
                  </a:cubicBezTo>
                  <a:lnTo>
                    <a:pt x="103875" y="620116"/>
                  </a:lnTo>
                  <a:cubicBezTo>
                    <a:pt x="76325" y="620116"/>
                    <a:pt x="49904" y="609172"/>
                    <a:pt x="30424" y="589692"/>
                  </a:cubicBezTo>
                  <a:cubicBezTo>
                    <a:pt x="10944" y="570211"/>
                    <a:pt x="0" y="543790"/>
                    <a:pt x="0" y="516241"/>
                  </a:cubicBezTo>
                  <a:lnTo>
                    <a:pt x="0" y="103875"/>
                  </a:lnTo>
                  <a:cubicBezTo>
                    <a:pt x="0" y="46506"/>
                    <a:pt x="46506" y="0"/>
                    <a:pt x="103875" y="0"/>
                  </a:cubicBezTo>
                  <a:close/>
                </a:path>
              </a:pathLst>
            </a:custGeom>
            <a:solidFill>
              <a:srgbClr val="E9EFEB"/>
            </a:solidFill>
            <a:ln w="38100" cap="rnd">
              <a:solidFill>
                <a:srgbClr val="FFD065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01112" cy="6582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369143" y="7011202"/>
            <a:ext cx="3944098" cy="1543050"/>
            <a:chOff x="0" y="0"/>
            <a:chExt cx="1038775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8775" cy="406400"/>
            </a:xfrm>
            <a:custGeom>
              <a:avLst/>
              <a:gdLst/>
              <a:ahLst/>
              <a:cxnLst/>
              <a:rect r="r" b="b" t="t" l="l"/>
              <a:pathLst>
                <a:path h="406400" w="1038775">
                  <a:moveTo>
                    <a:pt x="100109" y="0"/>
                  </a:moveTo>
                  <a:lnTo>
                    <a:pt x="938666" y="0"/>
                  </a:lnTo>
                  <a:cubicBezTo>
                    <a:pt x="993955" y="0"/>
                    <a:pt x="1038775" y="44820"/>
                    <a:pt x="1038775" y="100109"/>
                  </a:cubicBezTo>
                  <a:lnTo>
                    <a:pt x="1038775" y="306291"/>
                  </a:lnTo>
                  <a:cubicBezTo>
                    <a:pt x="1038775" y="361580"/>
                    <a:pt x="993955" y="406400"/>
                    <a:pt x="938666" y="406400"/>
                  </a:cubicBezTo>
                  <a:lnTo>
                    <a:pt x="100109" y="406400"/>
                  </a:lnTo>
                  <a:cubicBezTo>
                    <a:pt x="44820" y="406400"/>
                    <a:pt x="0" y="361580"/>
                    <a:pt x="0" y="306291"/>
                  </a:cubicBezTo>
                  <a:lnTo>
                    <a:pt x="0" y="100109"/>
                  </a:lnTo>
                  <a:cubicBezTo>
                    <a:pt x="0" y="44820"/>
                    <a:pt x="44820" y="0"/>
                    <a:pt x="100109" y="0"/>
                  </a:cubicBezTo>
                  <a:close/>
                </a:path>
              </a:pathLst>
            </a:custGeom>
            <a:solidFill>
              <a:srgbClr val="E9EFEB"/>
            </a:solidFill>
            <a:ln w="38100" cap="rnd">
              <a:solidFill>
                <a:srgbClr val="FFD065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3877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895244" y="7011202"/>
            <a:ext cx="3944098" cy="1543050"/>
            <a:chOff x="0" y="0"/>
            <a:chExt cx="1038775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8775" cy="406400"/>
            </a:xfrm>
            <a:custGeom>
              <a:avLst/>
              <a:gdLst/>
              <a:ahLst/>
              <a:cxnLst/>
              <a:rect r="r" b="b" t="t" l="l"/>
              <a:pathLst>
                <a:path h="406400" w="1038775">
                  <a:moveTo>
                    <a:pt x="100109" y="0"/>
                  </a:moveTo>
                  <a:lnTo>
                    <a:pt x="938666" y="0"/>
                  </a:lnTo>
                  <a:cubicBezTo>
                    <a:pt x="993955" y="0"/>
                    <a:pt x="1038775" y="44820"/>
                    <a:pt x="1038775" y="100109"/>
                  </a:cubicBezTo>
                  <a:lnTo>
                    <a:pt x="1038775" y="306291"/>
                  </a:lnTo>
                  <a:cubicBezTo>
                    <a:pt x="1038775" y="361580"/>
                    <a:pt x="993955" y="406400"/>
                    <a:pt x="938666" y="406400"/>
                  </a:cubicBezTo>
                  <a:lnTo>
                    <a:pt x="100109" y="406400"/>
                  </a:lnTo>
                  <a:cubicBezTo>
                    <a:pt x="44820" y="406400"/>
                    <a:pt x="0" y="361580"/>
                    <a:pt x="0" y="306291"/>
                  </a:cubicBezTo>
                  <a:lnTo>
                    <a:pt x="0" y="100109"/>
                  </a:lnTo>
                  <a:cubicBezTo>
                    <a:pt x="0" y="44820"/>
                    <a:pt x="44820" y="0"/>
                    <a:pt x="100109" y="0"/>
                  </a:cubicBezTo>
                  <a:close/>
                </a:path>
              </a:pathLst>
            </a:custGeom>
            <a:solidFill>
              <a:srgbClr val="E9EFEB"/>
            </a:solidFill>
            <a:ln w="38100" cap="rnd">
              <a:solidFill>
                <a:srgbClr val="FFD065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3877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610387" y="5384927"/>
            <a:ext cx="1056049" cy="1206317"/>
            <a:chOff x="0" y="0"/>
            <a:chExt cx="812800" cy="9284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928456"/>
            </a:xfrm>
            <a:custGeom>
              <a:avLst/>
              <a:gdLst/>
              <a:ahLst/>
              <a:cxnLst/>
              <a:rect r="r" b="b" t="t" l="l"/>
              <a:pathLst>
                <a:path h="928456" w="812800">
                  <a:moveTo>
                    <a:pt x="406400" y="0"/>
                  </a:moveTo>
                  <a:cubicBezTo>
                    <a:pt x="181951" y="0"/>
                    <a:pt x="0" y="207842"/>
                    <a:pt x="0" y="464228"/>
                  </a:cubicBezTo>
                  <a:cubicBezTo>
                    <a:pt x="0" y="720614"/>
                    <a:pt x="181951" y="928456"/>
                    <a:pt x="406400" y="928456"/>
                  </a:cubicBezTo>
                  <a:cubicBezTo>
                    <a:pt x="630849" y="928456"/>
                    <a:pt x="812800" y="720614"/>
                    <a:pt x="812800" y="464228"/>
                  </a:cubicBezTo>
                  <a:cubicBezTo>
                    <a:pt x="812800" y="2078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B695"/>
            </a:solidFill>
            <a:ln w="38100" cap="sq">
              <a:solidFill>
                <a:srgbClr val="FFD23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318"/>
              <a:ext cx="660400" cy="840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600"/>
                </a:lnSpc>
              </a:pPr>
              <a:r>
                <a:rPr lang="en-US" b="true" sz="40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425602" y="5384927"/>
            <a:ext cx="1056049" cy="1206316"/>
            <a:chOff x="0" y="0"/>
            <a:chExt cx="812800" cy="92845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928455"/>
            </a:xfrm>
            <a:custGeom>
              <a:avLst/>
              <a:gdLst/>
              <a:ahLst/>
              <a:cxnLst/>
              <a:rect r="r" b="b" t="t" l="l"/>
              <a:pathLst>
                <a:path h="928455" w="812800">
                  <a:moveTo>
                    <a:pt x="406400" y="0"/>
                  </a:moveTo>
                  <a:cubicBezTo>
                    <a:pt x="181951" y="0"/>
                    <a:pt x="0" y="207842"/>
                    <a:pt x="0" y="464228"/>
                  </a:cubicBezTo>
                  <a:cubicBezTo>
                    <a:pt x="0" y="720614"/>
                    <a:pt x="181951" y="928455"/>
                    <a:pt x="406400" y="928455"/>
                  </a:cubicBezTo>
                  <a:cubicBezTo>
                    <a:pt x="630849" y="928455"/>
                    <a:pt x="812800" y="720614"/>
                    <a:pt x="812800" y="464228"/>
                  </a:cubicBezTo>
                  <a:cubicBezTo>
                    <a:pt x="812800" y="2078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B695"/>
            </a:solidFill>
            <a:ln w="38100" cap="sq">
              <a:solidFill>
                <a:srgbClr val="FFD23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0843"/>
              <a:ext cx="660400" cy="830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b="true" sz="39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240817" y="5384927"/>
            <a:ext cx="1056049" cy="1206316"/>
            <a:chOff x="0" y="0"/>
            <a:chExt cx="812800" cy="92845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928455"/>
            </a:xfrm>
            <a:custGeom>
              <a:avLst/>
              <a:gdLst/>
              <a:ahLst/>
              <a:cxnLst/>
              <a:rect r="r" b="b" t="t" l="l"/>
              <a:pathLst>
                <a:path h="928455" w="812800">
                  <a:moveTo>
                    <a:pt x="406400" y="0"/>
                  </a:moveTo>
                  <a:cubicBezTo>
                    <a:pt x="181951" y="0"/>
                    <a:pt x="0" y="207842"/>
                    <a:pt x="0" y="464228"/>
                  </a:cubicBezTo>
                  <a:cubicBezTo>
                    <a:pt x="0" y="720614"/>
                    <a:pt x="181951" y="928455"/>
                    <a:pt x="406400" y="928455"/>
                  </a:cubicBezTo>
                  <a:cubicBezTo>
                    <a:pt x="630849" y="928455"/>
                    <a:pt x="812800" y="720614"/>
                    <a:pt x="812800" y="464228"/>
                  </a:cubicBezTo>
                  <a:cubicBezTo>
                    <a:pt x="812800" y="2078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B695"/>
            </a:solidFill>
            <a:ln w="38100" cap="sq">
              <a:solidFill>
                <a:srgbClr val="FFD23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10843"/>
              <a:ext cx="660400" cy="830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b="true" sz="39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339268" y="8719344"/>
            <a:ext cx="1056049" cy="1206315"/>
            <a:chOff x="0" y="0"/>
            <a:chExt cx="812800" cy="92845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928454"/>
            </a:xfrm>
            <a:custGeom>
              <a:avLst/>
              <a:gdLst/>
              <a:ahLst/>
              <a:cxnLst/>
              <a:rect r="r" b="b" t="t" l="l"/>
              <a:pathLst>
                <a:path h="928454" w="812800">
                  <a:moveTo>
                    <a:pt x="406400" y="0"/>
                  </a:moveTo>
                  <a:cubicBezTo>
                    <a:pt x="181951" y="0"/>
                    <a:pt x="0" y="207842"/>
                    <a:pt x="0" y="464227"/>
                  </a:cubicBezTo>
                  <a:cubicBezTo>
                    <a:pt x="0" y="720613"/>
                    <a:pt x="181951" y="928454"/>
                    <a:pt x="406400" y="928454"/>
                  </a:cubicBezTo>
                  <a:cubicBezTo>
                    <a:pt x="630849" y="928454"/>
                    <a:pt x="812800" y="720613"/>
                    <a:pt x="812800" y="464227"/>
                  </a:cubicBezTo>
                  <a:cubicBezTo>
                    <a:pt x="812800" y="2078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B695"/>
            </a:solidFill>
            <a:ln w="38100" cap="sq">
              <a:solidFill>
                <a:srgbClr val="FFD23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10843"/>
              <a:ext cx="660400" cy="830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b="true" sz="39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813168" y="8730276"/>
            <a:ext cx="1056049" cy="1206317"/>
            <a:chOff x="0" y="0"/>
            <a:chExt cx="812800" cy="9284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928456"/>
            </a:xfrm>
            <a:custGeom>
              <a:avLst/>
              <a:gdLst/>
              <a:ahLst/>
              <a:cxnLst/>
              <a:rect r="r" b="b" t="t" l="l"/>
              <a:pathLst>
                <a:path h="928456" w="812800">
                  <a:moveTo>
                    <a:pt x="406400" y="0"/>
                  </a:moveTo>
                  <a:cubicBezTo>
                    <a:pt x="181951" y="0"/>
                    <a:pt x="0" y="207842"/>
                    <a:pt x="0" y="464228"/>
                  </a:cubicBezTo>
                  <a:cubicBezTo>
                    <a:pt x="0" y="720614"/>
                    <a:pt x="181951" y="928456"/>
                    <a:pt x="406400" y="928456"/>
                  </a:cubicBezTo>
                  <a:cubicBezTo>
                    <a:pt x="630849" y="928456"/>
                    <a:pt x="812800" y="720614"/>
                    <a:pt x="812800" y="464228"/>
                  </a:cubicBezTo>
                  <a:cubicBezTo>
                    <a:pt x="812800" y="20784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B695"/>
            </a:solidFill>
            <a:ln w="38100" cap="sq">
              <a:solidFill>
                <a:srgbClr val="FFD23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1318"/>
              <a:ext cx="660400" cy="840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600"/>
                </a:lnSpc>
              </a:pPr>
              <a:r>
                <a:rPr lang="en-US" b="true" sz="40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16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5806794" y="296441"/>
            <a:ext cx="1992747" cy="1992747"/>
          </a:xfrm>
          <a:custGeom>
            <a:avLst/>
            <a:gdLst/>
            <a:ahLst/>
            <a:cxnLst/>
            <a:rect r="r" b="b" t="t" l="l"/>
            <a:pathLst>
              <a:path h="1992747" w="1992747">
                <a:moveTo>
                  <a:pt x="0" y="0"/>
                </a:moveTo>
                <a:lnTo>
                  <a:pt x="1992747" y="0"/>
                </a:lnTo>
                <a:lnTo>
                  <a:pt x="1992747" y="1992747"/>
                </a:lnTo>
                <a:lnTo>
                  <a:pt x="0" y="19927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3292573" y="541868"/>
            <a:ext cx="1128105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Metodología Scrum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931016" y="3548515"/>
            <a:ext cx="356770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Tiempo de Sprint.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206694" y="3548515"/>
            <a:ext cx="345281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Duracion Mvp.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06152" y="3034160"/>
            <a:ext cx="386452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Numero de integrantes de la célula.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783676" y="7459195"/>
            <a:ext cx="311503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Total de épicas.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054388" y="7459195"/>
            <a:ext cx="36258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Total de Historias.</a:t>
            </a: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73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0186" y="255615"/>
            <a:ext cx="17567628" cy="9775770"/>
            <a:chOff x="0" y="0"/>
            <a:chExt cx="4626865" cy="25746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6865" cy="2574688"/>
            </a:xfrm>
            <a:custGeom>
              <a:avLst/>
              <a:gdLst/>
              <a:ahLst/>
              <a:cxnLst/>
              <a:rect r="r" b="b" t="t" l="l"/>
              <a:pathLst>
                <a:path h="2574688" w="4626865">
                  <a:moveTo>
                    <a:pt x="22475" y="0"/>
                  </a:moveTo>
                  <a:lnTo>
                    <a:pt x="4604389" y="0"/>
                  </a:lnTo>
                  <a:cubicBezTo>
                    <a:pt x="4616802" y="0"/>
                    <a:pt x="4626865" y="10063"/>
                    <a:pt x="4626865" y="22475"/>
                  </a:cubicBezTo>
                  <a:lnTo>
                    <a:pt x="4626865" y="2552213"/>
                  </a:lnTo>
                  <a:cubicBezTo>
                    <a:pt x="4626865" y="2564626"/>
                    <a:pt x="4616802" y="2574688"/>
                    <a:pt x="4604389" y="2574688"/>
                  </a:cubicBezTo>
                  <a:lnTo>
                    <a:pt x="22475" y="2574688"/>
                  </a:lnTo>
                  <a:cubicBezTo>
                    <a:pt x="10063" y="2574688"/>
                    <a:pt x="0" y="2564626"/>
                    <a:pt x="0" y="2552213"/>
                  </a:cubicBezTo>
                  <a:lnTo>
                    <a:pt x="0" y="22475"/>
                  </a:lnTo>
                  <a:cubicBezTo>
                    <a:pt x="0" y="10063"/>
                    <a:pt x="10063" y="0"/>
                    <a:pt x="2247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26865" cy="26127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166951" y="572986"/>
            <a:ext cx="8045947" cy="1543050"/>
            <a:chOff x="0" y="0"/>
            <a:chExt cx="2119097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19097" cy="406400"/>
            </a:xfrm>
            <a:custGeom>
              <a:avLst/>
              <a:gdLst/>
              <a:ahLst/>
              <a:cxnLst/>
              <a:rect r="r" b="b" t="t" l="l"/>
              <a:pathLst>
                <a:path h="406400" w="2119097">
                  <a:moveTo>
                    <a:pt x="1915897" y="0"/>
                  </a:moveTo>
                  <a:cubicBezTo>
                    <a:pt x="2028121" y="0"/>
                    <a:pt x="2119097" y="90976"/>
                    <a:pt x="2119097" y="203200"/>
                  </a:cubicBezTo>
                  <a:cubicBezTo>
                    <a:pt x="2119097" y="315424"/>
                    <a:pt x="2028121" y="406400"/>
                    <a:pt x="191589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FE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1909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80851" y="3122754"/>
            <a:ext cx="3086100" cy="5122087"/>
            <a:chOff x="0" y="0"/>
            <a:chExt cx="812800" cy="13490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1349027"/>
            </a:xfrm>
            <a:custGeom>
              <a:avLst/>
              <a:gdLst/>
              <a:ahLst/>
              <a:cxnLst/>
              <a:rect r="r" b="b" t="t" l="l"/>
              <a:pathLst>
                <a:path h="1349027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221086"/>
                  </a:lnTo>
                  <a:cubicBezTo>
                    <a:pt x="812800" y="1255018"/>
                    <a:pt x="799321" y="1287560"/>
                    <a:pt x="775327" y="1311554"/>
                  </a:cubicBezTo>
                  <a:cubicBezTo>
                    <a:pt x="751333" y="1335547"/>
                    <a:pt x="718791" y="1349027"/>
                    <a:pt x="684859" y="1349027"/>
                  </a:cubicBezTo>
                  <a:lnTo>
                    <a:pt x="127941" y="1349027"/>
                  </a:lnTo>
                  <a:cubicBezTo>
                    <a:pt x="94009" y="1349027"/>
                    <a:pt x="61467" y="1335547"/>
                    <a:pt x="37473" y="1311554"/>
                  </a:cubicBezTo>
                  <a:cubicBezTo>
                    <a:pt x="13479" y="1287560"/>
                    <a:pt x="0" y="1255018"/>
                    <a:pt x="0" y="1221086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275B40"/>
            </a:solidFill>
            <a:ln w="38100" cap="rnd">
              <a:solidFill>
                <a:srgbClr val="FABC0D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1387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78049" y="3122754"/>
            <a:ext cx="3423751" cy="5122087"/>
            <a:chOff x="0" y="0"/>
            <a:chExt cx="901729" cy="13490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01729" cy="1349027"/>
            </a:xfrm>
            <a:custGeom>
              <a:avLst/>
              <a:gdLst/>
              <a:ahLst/>
              <a:cxnLst/>
              <a:rect r="r" b="b" t="t" l="l"/>
              <a:pathLst>
                <a:path h="1349027" w="901729">
                  <a:moveTo>
                    <a:pt x="115323" y="0"/>
                  </a:moveTo>
                  <a:lnTo>
                    <a:pt x="786405" y="0"/>
                  </a:lnTo>
                  <a:cubicBezTo>
                    <a:pt x="850097" y="0"/>
                    <a:pt x="901729" y="51632"/>
                    <a:pt x="901729" y="115323"/>
                  </a:cubicBezTo>
                  <a:lnTo>
                    <a:pt x="901729" y="1233704"/>
                  </a:lnTo>
                  <a:cubicBezTo>
                    <a:pt x="901729" y="1264289"/>
                    <a:pt x="889578" y="1293622"/>
                    <a:pt x="867951" y="1315249"/>
                  </a:cubicBezTo>
                  <a:cubicBezTo>
                    <a:pt x="846324" y="1336877"/>
                    <a:pt x="816991" y="1349027"/>
                    <a:pt x="786405" y="1349027"/>
                  </a:cubicBezTo>
                  <a:lnTo>
                    <a:pt x="115323" y="1349027"/>
                  </a:lnTo>
                  <a:cubicBezTo>
                    <a:pt x="51632" y="1349027"/>
                    <a:pt x="0" y="1297395"/>
                    <a:pt x="0" y="1233704"/>
                  </a:cubicBezTo>
                  <a:lnTo>
                    <a:pt x="0" y="115323"/>
                  </a:lnTo>
                  <a:cubicBezTo>
                    <a:pt x="0" y="84738"/>
                    <a:pt x="12150" y="55405"/>
                    <a:pt x="33777" y="33777"/>
                  </a:cubicBezTo>
                  <a:cubicBezTo>
                    <a:pt x="55405" y="12150"/>
                    <a:pt x="84738" y="0"/>
                    <a:pt x="115323" y="0"/>
                  </a:cubicBezTo>
                  <a:close/>
                </a:path>
              </a:pathLst>
            </a:custGeom>
            <a:solidFill>
              <a:srgbClr val="275B40"/>
            </a:solidFill>
            <a:ln w="38100" cap="rnd">
              <a:solidFill>
                <a:srgbClr val="FABC0D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01729" cy="1387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032818" y="3122754"/>
            <a:ext cx="3423751" cy="5122087"/>
            <a:chOff x="0" y="0"/>
            <a:chExt cx="901729" cy="13490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1729" cy="1349027"/>
            </a:xfrm>
            <a:custGeom>
              <a:avLst/>
              <a:gdLst/>
              <a:ahLst/>
              <a:cxnLst/>
              <a:rect r="r" b="b" t="t" l="l"/>
              <a:pathLst>
                <a:path h="1349027" w="901729">
                  <a:moveTo>
                    <a:pt x="115323" y="0"/>
                  </a:moveTo>
                  <a:lnTo>
                    <a:pt x="786405" y="0"/>
                  </a:lnTo>
                  <a:cubicBezTo>
                    <a:pt x="850097" y="0"/>
                    <a:pt x="901729" y="51632"/>
                    <a:pt x="901729" y="115323"/>
                  </a:cubicBezTo>
                  <a:lnTo>
                    <a:pt x="901729" y="1233704"/>
                  </a:lnTo>
                  <a:cubicBezTo>
                    <a:pt x="901729" y="1264289"/>
                    <a:pt x="889578" y="1293622"/>
                    <a:pt x="867951" y="1315249"/>
                  </a:cubicBezTo>
                  <a:cubicBezTo>
                    <a:pt x="846324" y="1336877"/>
                    <a:pt x="816991" y="1349027"/>
                    <a:pt x="786405" y="1349027"/>
                  </a:cubicBezTo>
                  <a:lnTo>
                    <a:pt x="115323" y="1349027"/>
                  </a:lnTo>
                  <a:cubicBezTo>
                    <a:pt x="51632" y="1349027"/>
                    <a:pt x="0" y="1297395"/>
                    <a:pt x="0" y="1233704"/>
                  </a:cubicBezTo>
                  <a:lnTo>
                    <a:pt x="0" y="115323"/>
                  </a:lnTo>
                  <a:cubicBezTo>
                    <a:pt x="0" y="84738"/>
                    <a:pt x="12150" y="55405"/>
                    <a:pt x="33777" y="33777"/>
                  </a:cubicBezTo>
                  <a:cubicBezTo>
                    <a:pt x="55405" y="12150"/>
                    <a:pt x="84738" y="0"/>
                    <a:pt x="115323" y="0"/>
                  </a:cubicBezTo>
                  <a:close/>
                </a:path>
              </a:pathLst>
            </a:custGeom>
            <a:solidFill>
              <a:srgbClr val="275B40"/>
            </a:solidFill>
            <a:ln w="38100" cap="rnd">
              <a:solidFill>
                <a:srgbClr val="FABC0D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01729" cy="1387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959325" y="3540474"/>
            <a:ext cx="1603026" cy="160302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6666" r="0" b="-16666"/>
              </a:stretch>
            </a:blipFill>
            <a:ln w="38100" cap="sq">
              <a:solidFill>
                <a:srgbClr val="FFD23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426735" y="3540474"/>
            <a:ext cx="1603026" cy="160302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272" t="0" r="-2272" b="0"/>
              </a:stretch>
            </a:blipFill>
            <a:ln w="38100" cap="sq">
              <a:solidFill>
                <a:srgbClr val="FFD23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2740164" y="3463140"/>
            <a:ext cx="1680360" cy="168036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4244" t="0" r="-11179" b="0"/>
              </a:stretch>
            </a:blipFill>
            <a:ln w="38100" cap="sq">
              <a:solidFill>
                <a:srgbClr val="FFD230"/>
              </a:solidFill>
              <a:prstDash val="solid"/>
              <a:miter/>
            </a:ln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5927782" y="374486"/>
            <a:ext cx="1792094" cy="1792094"/>
          </a:xfrm>
          <a:custGeom>
            <a:avLst/>
            <a:gdLst/>
            <a:ahLst/>
            <a:cxnLst/>
            <a:rect r="r" b="b" t="t" l="l"/>
            <a:pathLst>
              <a:path h="1792094" w="1792094">
                <a:moveTo>
                  <a:pt x="0" y="0"/>
                </a:moveTo>
                <a:lnTo>
                  <a:pt x="1792094" y="0"/>
                </a:lnTo>
                <a:lnTo>
                  <a:pt x="1792094" y="1792094"/>
                </a:lnTo>
                <a:lnTo>
                  <a:pt x="0" y="1792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7582867" y="401536"/>
            <a:ext cx="312226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Roles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21330" y="5288416"/>
            <a:ext cx="2197928" cy="39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4"/>
              </a:lnSpc>
            </a:pPr>
            <a:r>
              <a:rPr lang="en-US" b="true" sz="2346">
                <a:solidFill>
                  <a:srgbClr val="E9EF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Product owner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109938" y="5288416"/>
            <a:ext cx="2068124" cy="39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4"/>
              </a:lnSpc>
            </a:pPr>
            <a:r>
              <a:rPr lang="en-US" b="true" sz="2346">
                <a:solidFill>
                  <a:srgbClr val="E9EF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Scrum Master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664050" y="5288416"/>
            <a:ext cx="2127352" cy="39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4"/>
              </a:lnSpc>
            </a:pPr>
            <a:r>
              <a:rPr lang="en-US" b="true" sz="2346">
                <a:solidFill>
                  <a:srgbClr val="E9EF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Desarrollador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468993" y="5836197"/>
            <a:ext cx="2309816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Enca</a:t>
            </a: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rgado del desarrollo de la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APP móvil, planificación y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documentación del proyecto.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916722" y="5836197"/>
            <a:ext cx="2623052" cy="218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Hace ope</a:t>
            </a: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rativo el marco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Scrum para que el equipo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entregue valor de forma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predecible, sostenible y con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calidad.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96345" y="5836197"/>
            <a:ext cx="2662761" cy="124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Diseña, implementa y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mantiene las funcionalidades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del p</a:t>
            </a: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roducto.</a:t>
            </a: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73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7204" y="404024"/>
            <a:ext cx="17333592" cy="9478951"/>
            <a:chOff x="0" y="0"/>
            <a:chExt cx="4565226" cy="24965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5226" cy="2496514"/>
            </a:xfrm>
            <a:custGeom>
              <a:avLst/>
              <a:gdLst/>
              <a:ahLst/>
              <a:cxnLst/>
              <a:rect r="r" b="b" t="t" l="l"/>
              <a:pathLst>
                <a:path h="2496514" w="4565226">
                  <a:moveTo>
                    <a:pt x="22779" y="0"/>
                  </a:moveTo>
                  <a:lnTo>
                    <a:pt x="4542447" y="0"/>
                  </a:lnTo>
                  <a:cubicBezTo>
                    <a:pt x="4548489" y="0"/>
                    <a:pt x="4554282" y="2400"/>
                    <a:pt x="4558554" y="6672"/>
                  </a:cubicBezTo>
                  <a:cubicBezTo>
                    <a:pt x="4562826" y="10944"/>
                    <a:pt x="4565226" y="16737"/>
                    <a:pt x="4565226" y="22779"/>
                  </a:cubicBezTo>
                  <a:lnTo>
                    <a:pt x="4565226" y="2473735"/>
                  </a:lnTo>
                  <a:cubicBezTo>
                    <a:pt x="4565226" y="2479776"/>
                    <a:pt x="4562826" y="2485570"/>
                    <a:pt x="4558554" y="2489842"/>
                  </a:cubicBezTo>
                  <a:cubicBezTo>
                    <a:pt x="4554282" y="2494114"/>
                    <a:pt x="4548489" y="2496514"/>
                    <a:pt x="4542447" y="2496514"/>
                  </a:cubicBezTo>
                  <a:lnTo>
                    <a:pt x="22779" y="2496514"/>
                  </a:lnTo>
                  <a:cubicBezTo>
                    <a:pt x="10198" y="2496514"/>
                    <a:pt x="0" y="2486315"/>
                    <a:pt x="0" y="2473735"/>
                  </a:cubicBezTo>
                  <a:lnTo>
                    <a:pt x="0" y="22779"/>
                  </a:lnTo>
                  <a:cubicBezTo>
                    <a:pt x="0" y="16737"/>
                    <a:pt x="2400" y="10944"/>
                    <a:pt x="6672" y="6672"/>
                  </a:cubicBezTo>
                  <a:cubicBezTo>
                    <a:pt x="10944" y="2400"/>
                    <a:pt x="16737" y="0"/>
                    <a:pt x="227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565226" cy="25727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50276" y="4535729"/>
            <a:ext cx="2163188" cy="216318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23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606341" y="4535729"/>
            <a:ext cx="2163188" cy="216318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23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811268" y="4535729"/>
            <a:ext cx="2163188" cy="216318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23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200259" y="4535729"/>
            <a:ext cx="2163188" cy="216318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23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592173" y="4535729"/>
            <a:ext cx="2163188" cy="216318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23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782967" y="5409272"/>
            <a:ext cx="3086100" cy="416103"/>
            <a:chOff x="0" y="0"/>
            <a:chExt cx="635000" cy="8561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" cy="85618"/>
            </a:xfrm>
            <a:custGeom>
              <a:avLst/>
              <a:gdLst/>
              <a:ahLst/>
              <a:cxnLst/>
              <a:rect r="r" b="b" t="t" l="l"/>
              <a:pathLst>
                <a:path h="85618" w="635000">
                  <a:moveTo>
                    <a:pt x="42809" y="0"/>
                  </a:moveTo>
                  <a:lnTo>
                    <a:pt x="592191" y="0"/>
                  </a:lnTo>
                  <a:cubicBezTo>
                    <a:pt x="615834" y="0"/>
                    <a:pt x="635000" y="19166"/>
                    <a:pt x="635000" y="42809"/>
                  </a:cubicBezTo>
                  <a:lnTo>
                    <a:pt x="635000" y="42809"/>
                  </a:lnTo>
                  <a:cubicBezTo>
                    <a:pt x="635000" y="54163"/>
                    <a:pt x="630490" y="65051"/>
                    <a:pt x="622462" y="73079"/>
                  </a:cubicBezTo>
                  <a:cubicBezTo>
                    <a:pt x="614433" y="81108"/>
                    <a:pt x="603545" y="85618"/>
                    <a:pt x="592191" y="85618"/>
                  </a:cubicBezTo>
                  <a:lnTo>
                    <a:pt x="42809" y="85618"/>
                  </a:lnTo>
                  <a:cubicBezTo>
                    <a:pt x="19166" y="85618"/>
                    <a:pt x="0" y="66452"/>
                    <a:pt x="0" y="42809"/>
                  </a:cubicBezTo>
                  <a:lnTo>
                    <a:pt x="0" y="42809"/>
                  </a:lnTo>
                  <a:cubicBezTo>
                    <a:pt x="0" y="19166"/>
                    <a:pt x="19166" y="0"/>
                    <a:pt x="42809" y="0"/>
                  </a:cubicBezTo>
                  <a:close/>
                </a:path>
              </a:pathLst>
            </a:custGeom>
            <a:solidFill>
              <a:srgbClr val="FFD23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35000" cy="123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869067" y="5409272"/>
            <a:ext cx="3086100" cy="416103"/>
            <a:chOff x="0" y="0"/>
            <a:chExt cx="635000" cy="8561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5000" cy="85618"/>
            </a:xfrm>
            <a:custGeom>
              <a:avLst/>
              <a:gdLst/>
              <a:ahLst/>
              <a:cxnLst/>
              <a:rect r="r" b="b" t="t" l="l"/>
              <a:pathLst>
                <a:path h="85618" w="635000">
                  <a:moveTo>
                    <a:pt x="42809" y="0"/>
                  </a:moveTo>
                  <a:lnTo>
                    <a:pt x="592191" y="0"/>
                  </a:lnTo>
                  <a:cubicBezTo>
                    <a:pt x="615834" y="0"/>
                    <a:pt x="635000" y="19166"/>
                    <a:pt x="635000" y="42809"/>
                  </a:cubicBezTo>
                  <a:lnTo>
                    <a:pt x="635000" y="42809"/>
                  </a:lnTo>
                  <a:cubicBezTo>
                    <a:pt x="635000" y="54163"/>
                    <a:pt x="630490" y="65051"/>
                    <a:pt x="622462" y="73079"/>
                  </a:cubicBezTo>
                  <a:cubicBezTo>
                    <a:pt x="614433" y="81108"/>
                    <a:pt x="603545" y="85618"/>
                    <a:pt x="592191" y="85618"/>
                  </a:cubicBezTo>
                  <a:lnTo>
                    <a:pt x="42809" y="85618"/>
                  </a:lnTo>
                  <a:cubicBezTo>
                    <a:pt x="19166" y="85618"/>
                    <a:pt x="0" y="66452"/>
                    <a:pt x="0" y="42809"/>
                  </a:cubicBezTo>
                  <a:lnTo>
                    <a:pt x="0" y="42809"/>
                  </a:lnTo>
                  <a:cubicBezTo>
                    <a:pt x="0" y="19166"/>
                    <a:pt x="19166" y="0"/>
                    <a:pt x="42809" y="0"/>
                  </a:cubicBezTo>
                  <a:close/>
                </a:path>
              </a:pathLst>
            </a:custGeom>
            <a:solidFill>
              <a:srgbClr val="FFD23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35000" cy="123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955167" y="5409272"/>
            <a:ext cx="3086100" cy="416103"/>
            <a:chOff x="0" y="0"/>
            <a:chExt cx="635000" cy="8561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" cy="85618"/>
            </a:xfrm>
            <a:custGeom>
              <a:avLst/>
              <a:gdLst/>
              <a:ahLst/>
              <a:cxnLst/>
              <a:rect r="r" b="b" t="t" l="l"/>
              <a:pathLst>
                <a:path h="85618" w="635000">
                  <a:moveTo>
                    <a:pt x="42809" y="0"/>
                  </a:moveTo>
                  <a:lnTo>
                    <a:pt x="592191" y="0"/>
                  </a:lnTo>
                  <a:cubicBezTo>
                    <a:pt x="615834" y="0"/>
                    <a:pt x="635000" y="19166"/>
                    <a:pt x="635000" y="42809"/>
                  </a:cubicBezTo>
                  <a:lnTo>
                    <a:pt x="635000" y="42809"/>
                  </a:lnTo>
                  <a:cubicBezTo>
                    <a:pt x="635000" y="54163"/>
                    <a:pt x="630490" y="65051"/>
                    <a:pt x="622462" y="73079"/>
                  </a:cubicBezTo>
                  <a:cubicBezTo>
                    <a:pt x="614433" y="81108"/>
                    <a:pt x="603545" y="85618"/>
                    <a:pt x="592191" y="85618"/>
                  </a:cubicBezTo>
                  <a:lnTo>
                    <a:pt x="42809" y="85618"/>
                  </a:lnTo>
                  <a:cubicBezTo>
                    <a:pt x="19166" y="85618"/>
                    <a:pt x="0" y="66452"/>
                    <a:pt x="0" y="42809"/>
                  </a:cubicBezTo>
                  <a:lnTo>
                    <a:pt x="0" y="42809"/>
                  </a:lnTo>
                  <a:cubicBezTo>
                    <a:pt x="0" y="19166"/>
                    <a:pt x="19166" y="0"/>
                    <a:pt x="42809" y="0"/>
                  </a:cubicBezTo>
                  <a:close/>
                </a:path>
              </a:pathLst>
            </a:custGeom>
            <a:solidFill>
              <a:srgbClr val="FFD23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35000" cy="123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20398" y="5409272"/>
            <a:ext cx="3086100" cy="416103"/>
            <a:chOff x="0" y="0"/>
            <a:chExt cx="635000" cy="8561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5000" cy="85618"/>
            </a:xfrm>
            <a:custGeom>
              <a:avLst/>
              <a:gdLst/>
              <a:ahLst/>
              <a:cxnLst/>
              <a:rect r="r" b="b" t="t" l="l"/>
              <a:pathLst>
                <a:path h="85618" w="635000">
                  <a:moveTo>
                    <a:pt x="42809" y="0"/>
                  </a:moveTo>
                  <a:lnTo>
                    <a:pt x="592191" y="0"/>
                  </a:lnTo>
                  <a:cubicBezTo>
                    <a:pt x="615834" y="0"/>
                    <a:pt x="635000" y="19166"/>
                    <a:pt x="635000" y="42809"/>
                  </a:cubicBezTo>
                  <a:lnTo>
                    <a:pt x="635000" y="42809"/>
                  </a:lnTo>
                  <a:cubicBezTo>
                    <a:pt x="635000" y="54163"/>
                    <a:pt x="630490" y="65051"/>
                    <a:pt x="622462" y="73079"/>
                  </a:cubicBezTo>
                  <a:cubicBezTo>
                    <a:pt x="614433" y="81108"/>
                    <a:pt x="603545" y="85618"/>
                    <a:pt x="592191" y="85618"/>
                  </a:cubicBezTo>
                  <a:lnTo>
                    <a:pt x="42809" y="85618"/>
                  </a:lnTo>
                  <a:cubicBezTo>
                    <a:pt x="19166" y="85618"/>
                    <a:pt x="0" y="66452"/>
                    <a:pt x="0" y="42809"/>
                  </a:cubicBezTo>
                  <a:lnTo>
                    <a:pt x="0" y="42809"/>
                  </a:lnTo>
                  <a:cubicBezTo>
                    <a:pt x="0" y="19166"/>
                    <a:pt x="19166" y="0"/>
                    <a:pt x="42809" y="0"/>
                  </a:cubicBezTo>
                  <a:close/>
                </a:path>
              </a:pathLst>
            </a:custGeom>
            <a:solidFill>
              <a:srgbClr val="FFD23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35000" cy="123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851198" y="3559873"/>
            <a:ext cx="761345" cy="761345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75B4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203200" y="635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10732756">
            <a:off x="5307263" y="6924018"/>
            <a:ext cx="761345" cy="761345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75B4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203200" y="635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512190" y="3567246"/>
            <a:ext cx="761345" cy="761345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75B4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203200" y="635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10800000">
            <a:off x="11902642" y="6931391"/>
            <a:ext cx="761345" cy="761345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75B40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203200" y="635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293094" y="3559873"/>
            <a:ext cx="761345" cy="761345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75B4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203200" y="63500"/>
              <a:ext cx="406400" cy="749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104506" y="653190"/>
            <a:ext cx="12360302" cy="1216105"/>
            <a:chOff x="0" y="0"/>
            <a:chExt cx="3255388" cy="32029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255388" cy="320291"/>
            </a:xfrm>
            <a:custGeom>
              <a:avLst/>
              <a:gdLst/>
              <a:ahLst/>
              <a:cxnLst/>
              <a:rect r="r" b="b" t="t" l="l"/>
              <a:pathLst>
                <a:path h="320291" w="3255388">
                  <a:moveTo>
                    <a:pt x="3052188" y="0"/>
                  </a:moveTo>
                  <a:cubicBezTo>
                    <a:pt x="3164412" y="0"/>
                    <a:pt x="3255388" y="71700"/>
                    <a:pt x="3255388" y="160146"/>
                  </a:cubicBezTo>
                  <a:cubicBezTo>
                    <a:pt x="3255388" y="248591"/>
                    <a:pt x="3164412" y="320291"/>
                    <a:pt x="3052188" y="320291"/>
                  </a:cubicBezTo>
                  <a:lnTo>
                    <a:pt x="203200" y="320291"/>
                  </a:lnTo>
                  <a:cubicBezTo>
                    <a:pt x="90976" y="320291"/>
                    <a:pt x="0" y="248591"/>
                    <a:pt x="0" y="160146"/>
                  </a:cubicBezTo>
                  <a:cubicBezTo>
                    <a:pt x="0" y="7170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FEB"/>
            </a:solidFill>
            <a:ln w="38100" cap="sq">
              <a:solidFill>
                <a:srgbClr val="FFD230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85725"/>
              <a:ext cx="3255388" cy="406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15841226" y="487677"/>
            <a:ext cx="1828270" cy="1828270"/>
          </a:xfrm>
          <a:custGeom>
            <a:avLst/>
            <a:gdLst/>
            <a:ahLst/>
            <a:cxnLst/>
            <a:rect r="r" b="b" t="t" l="l"/>
            <a:pathLst>
              <a:path h="1828270" w="1828270">
                <a:moveTo>
                  <a:pt x="0" y="0"/>
                </a:moveTo>
                <a:lnTo>
                  <a:pt x="1828270" y="0"/>
                </a:lnTo>
                <a:lnTo>
                  <a:pt x="1828270" y="1828270"/>
                </a:lnTo>
                <a:lnTo>
                  <a:pt x="0" y="18282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3835351" y="510315"/>
            <a:ext cx="8898612" cy="120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</a:t>
            </a:r>
            <a:r>
              <a:rPr lang="en-US" b="true" sz="7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admap de Sprints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50166" y="5244985"/>
            <a:ext cx="15634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Sprint 1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906230" y="5244985"/>
            <a:ext cx="15634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Sprint 2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111158" y="5244985"/>
            <a:ext cx="15634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Sprint 3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501610" y="5244985"/>
            <a:ext cx="15634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Sprint 4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887448" y="5244985"/>
            <a:ext cx="156341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Sprint 5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91236" y="2477872"/>
            <a:ext cx="3226539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Base Se</a:t>
            </a: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gura y Modelo de Datos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496920" y="7854661"/>
            <a:ext cx="4323636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Cic</a:t>
            </a: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 de Valor Mínimo (MVP)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075981" y="2442660"/>
            <a:ext cx="5364475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</a:t>
            </a: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egración de Funcionalidades Sociales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514829" y="7854661"/>
            <a:ext cx="556671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</a:t>
            </a: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rramientas de Administración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632117" y="2477872"/>
            <a:ext cx="4074071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alidad (QA) y Despliegue Final</a:t>
            </a: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73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3417" y="404024"/>
            <a:ext cx="17333592" cy="9478951"/>
            <a:chOff x="0" y="0"/>
            <a:chExt cx="4565226" cy="24965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65226" cy="2496514"/>
            </a:xfrm>
            <a:custGeom>
              <a:avLst/>
              <a:gdLst/>
              <a:ahLst/>
              <a:cxnLst/>
              <a:rect r="r" b="b" t="t" l="l"/>
              <a:pathLst>
                <a:path h="2496514" w="4565226">
                  <a:moveTo>
                    <a:pt x="22779" y="0"/>
                  </a:moveTo>
                  <a:lnTo>
                    <a:pt x="4542447" y="0"/>
                  </a:lnTo>
                  <a:cubicBezTo>
                    <a:pt x="4548489" y="0"/>
                    <a:pt x="4554282" y="2400"/>
                    <a:pt x="4558554" y="6672"/>
                  </a:cubicBezTo>
                  <a:cubicBezTo>
                    <a:pt x="4562826" y="10944"/>
                    <a:pt x="4565226" y="16737"/>
                    <a:pt x="4565226" y="22779"/>
                  </a:cubicBezTo>
                  <a:lnTo>
                    <a:pt x="4565226" y="2473735"/>
                  </a:lnTo>
                  <a:cubicBezTo>
                    <a:pt x="4565226" y="2479776"/>
                    <a:pt x="4562826" y="2485570"/>
                    <a:pt x="4558554" y="2489842"/>
                  </a:cubicBezTo>
                  <a:cubicBezTo>
                    <a:pt x="4554282" y="2494114"/>
                    <a:pt x="4548489" y="2496514"/>
                    <a:pt x="4542447" y="2496514"/>
                  </a:cubicBezTo>
                  <a:lnTo>
                    <a:pt x="22779" y="2496514"/>
                  </a:lnTo>
                  <a:cubicBezTo>
                    <a:pt x="10198" y="2496514"/>
                    <a:pt x="0" y="2486315"/>
                    <a:pt x="0" y="2473735"/>
                  </a:cubicBezTo>
                  <a:lnTo>
                    <a:pt x="0" y="22779"/>
                  </a:lnTo>
                  <a:cubicBezTo>
                    <a:pt x="0" y="16737"/>
                    <a:pt x="2400" y="10944"/>
                    <a:pt x="6672" y="6672"/>
                  </a:cubicBezTo>
                  <a:cubicBezTo>
                    <a:pt x="10944" y="2400"/>
                    <a:pt x="16737" y="0"/>
                    <a:pt x="227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565226" cy="25727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94822" y="2453499"/>
            <a:ext cx="4498355" cy="1919239"/>
            <a:chOff x="0" y="0"/>
            <a:chExt cx="1184752" cy="5054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4752" cy="505479"/>
            </a:xfrm>
            <a:custGeom>
              <a:avLst/>
              <a:gdLst/>
              <a:ahLst/>
              <a:cxnLst/>
              <a:rect r="r" b="b" t="t" l="l"/>
              <a:pathLst>
                <a:path h="505479" w="1184752">
                  <a:moveTo>
                    <a:pt x="87774" y="0"/>
                  </a:moveTo>
                  <a:lnTo>
                    <a:pt x="1096978" y="0"/>
                  </a:lnTo>
                  <a:cubicBezTo>
                    <a:pt x="1120257" y="0"/>
                    <a:pt x="1142583" y="9248"/>
                    <a:pt x="1159044" y="25708"/>
                  </a:cubicBezTo>
                  <a:cubicBezTo>
                    <a:pt x="1175504" y="42169"/>
                    <a:pt x="1184752" y="64495"/>
                    <a:pt x="1184752" y="87774"/>
                  </a:cubicBezTo>
                  <a:lnTo>
                    <a:pt x="1184752" y="417705"/>
                  </a:lnTo>
                  <a:cubicBezTo>
                    <a:pt x="1184752" y="440984"/>
                    <a:pt x="1175504" y="463310"/>
                    <a:pt x="1159044" y="479770"/>
                  </a:cubicBezTo>
                  <a:cubicBezTo>
                    <a:pt x="1142583" y="496231"/>
                    <a:pt x="1120257" y="505479"/>
                    <a:pt x="1096978" y="505479"/>
                  </a:cubicBezTo>
                  <a:lnTo>
                    <a:pt x="87774" y="505479"/>
                  </a:lnTo>
                  <a:cubicBezTo>
                    <a:pt x="64495" y="505479"/>
                    <a:pt x="42169" y="496231"/>
                    <a:pt x="25708" y="479770"/>
                  </a:cubicBezTo>
                  <a:cubicBezTo>
                    <a:pt x="9248" y="463310"/>
                    <a:pt x="0" y="440984"/>
                    <a:pt x="0" y="417705"/>
                  </a:cubicBezTo>
                  <a:lnTo>
                    <a:pt x="0" y="87774"/>
                  </a:lnTo>
                  <a:cubicBezTo>
                    <a:pt x="0" y="64495"/>
                    <a:pt x="9248" y="42169"/>
                    <a:pt x="25708" y="25708"/>
                  </a:cubicBezTo>
                  <a:cubicBezTo>
                    <a:pt x="42169" y="9248"/>
                    <a:pt x="64495" y="0"/>
                    <a:pt x="87774" y="0"/>
                  </a:cubicBezTo>
                  <a:close/>
                </a:path>
              </a:pathLst>
            </a:custGeom>
            <a:solidFill>
              <a:srgbClr val="E9EFEB"/>
            </a:solidFill>
            <a:ln w="38100" cap="rnd">
              <a:solidFill>
                <a:srgbClr val="FFD23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84752" cy="543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80962" y="5470591"/>
            <a:ext cx="5050502" cy="1459499"/>
            <a:chOff x="0" y="0"/>
            <a:chExt cx="1330173" cy="3843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0173" cy="384395"/>
            </a:xfrm>
            <a:custGeom>
              <a:avLst/>
              <a:gdLst/>
              <a:ahLst/>
              <a:cxnLst/>
              <a:rect r="r" b="b" t="t" l="l"/>
              <a:pathLst>
                <a:path h="384395" w="1330173">
                  <a:moveTo>
                    <a:pt x="78178" y="0"/>
                  </a:moveTo>
                  <a:lnTo>
                    <a:pt x="1251995" y="0"/>
                  </a:lnTo>
                  <a:cubicBezTo>
                    <a:pt x="1295172" y="0"/>
                    <a:pt x="1330173" y="35001"/>
                    <a:pt x="1330173" y="78178"/>
                  </a:cubicBezTo>
                  <a:lnTo>
                    <a:pt x="1330173" y="306217"/>
                  </a:lnTo>
                  <a:cubicBezTo>
                    <a:pt x="1330173" y="349393"/>
                    <a:pt x="1295172" y="384395"/>
                    <a:pt x="1251995" y="384395"/>
                  </a:cubicBezTo>
                  <a:lnTo>
                    <a:pt x="78178" y="384395"/>
                  </a:lnTo>
                  <a:cubicBezTo>
                    <a:pt x="35001" y="384395"/>
                    <a:pt x="0" y="349393"/>
                    <a:pt x="0" y="306217"/>
                  </a:cubicBezTo>
                  <a:lnTo>
                    <a:pt x="0" y="78178"/>
                  </a:lnTo>
                  <a:cubicBezTo>
                    <a:pt x="0" y="35001"/>
                    <a:pt x="35001" y="0"/>
                    <a:pt x="78178" y="0"/>
                  </a:cubicBezTo>
                  <a:close/>
                </a:path>
              </a:pathLst>
            </a:custGeom>
            <a:solidFill>
              <a:srgbClr val="E9EFEB"/>
            </a:solidFill>
            <a:ln w="38100" cap="rnd">
              <a:solidFill>
                <a:srgbClr val="FFD23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30173" cy="422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873628" y="651302"/>
            <a:ext cx="1802197" cy="1802197"/>
          </a:xfrm>
          <a:custGeom>
            <a:avLst/>
            <a:gdLst/>
            <a:ahLst/>
            <a:cxnLst/>
            <a:rect r="r" b="b" t="t" l="l"/>
            <a:pathLst>
              <a:path h="1802197" w="1802197">
                <a:moveTo>
                  <a:pt x="0" y="0"/>
                </a:moveTo>
                <a:lnTo>
                  <a:pt x="1802197" y="0"/>
                </a:lnTo>
                <a:lnTo>
                  <a:pt x="1802197" y="1802197"/>
                </a:lnTo>
                <a:lnTo>
                  <a:pt x="0" y="180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750184" y="4775738"/>
            <a:ext cx="4548902" cy="1539755"/>
            <a:chOff x="0" y="0"/>
            <a:chExt cx="1198065" cy="4055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98065" cy="405532"/>
            </a:xfrm>
            <a:custGeom>
              <a:avLst/>
              <a:gdLst/>
              <a:ahLst/>
              <a:cxnLst/>
              <a:rect r="r" b="b" t="t" l="l"/>
              <a:pathLst>
                <a:path h="405532" w="1198065">
                  <a:moveTo>
                    <a:pt x="86798" y="0"/>
                  </a:moveTo>
                  <a:lnTo>
                    <a:pt x="1111266" y="0"/>
                  </a:lnTo>
                  <a:cubicBezTo>
                    <a:pt x="1159204" y="0"/>
                    <a:pt x="1198065" y="38861"/>
                    <a:pt x="1198065" y="86798"/>
                  </a:cubicBezTo>
                  <a:lnTo>
                    <a:pt x="1198065" y="318734"/>
                  </a:lnTo>
                  <a:cubicBezTo>
                    <a:pt x="1198065" y="366671"/>
                    <a:pt x="1159204" y="405532"/>
                    <a:pt x="1111266" y="405532"/>
                  </a:cubicBezTo>
                  <a:lnTo>
                    <a:pt x="86798" y="405532"/>
                  </a:lnTo>
                  <a:cubicBezTo>
                    <a:pt x="38861" y="405532"/>
                    <a:pt x="0" y="366671"/>
                    <a:pt x="0" y="318734"/>
                  </a:cubicBezTo>
                  <a:lnTo>
                    <a:pt x="0" y="86798"/>
                  </a:lnTo>
                  <a:cubicBezTo>
                    <a:pt x="0" y="38861"/>
                    <a:pt x="38861" y="0"/>
                    <a:pt x="86798" y="0"/>
                  </a:cubicBezTo>
                  <a:close/>
                </a:path>
              </a:pathLst>
            </a:custGeom>
            <a:solidFill>
              <a:srgbClr val="E9EFEB"/>
            </a:solidFill>
            <a:ln w="38100" cap="rnd">
              <a:solidFill>
                <a:srgbClr val="FFD23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198065" cy="443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801231" y="4775738"/>
            <a:ext cx="4578452" cy="1539755"/>
            <a:chOff x="0" y="0"/>
            <a:chExt cx="1205848" cy="4055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05848" cy="405532"/>
            </a:xfrm>
            <a:custGeom>
              <a:avLst/>
              <a:gdLst/>
              <a:ahLst/>
              <a:cxnLst/>
              <a:rect r="r" b="b" t="t" l="l"/>
              <a:pathLst>
                <a:path h="405532" w="1205848">
                  <a:moveTo>
                    <a:pt x="86238" y="0"/>
                  </a:moveTo>
                  <a:lnTo>
                    <a:pt x="1119609" y="0"/>
                  </a:lnTo>
                  <a:cubicBezTo>
                    <a:pt x="1142481" y="0"/>
                    <a:pt x="1164416" y="9086"/>
                    <a:pt x="1180589" y="25259"/>
                  </a:cubicBezTo>
                  <a:cubicBezTo>
                    <a:pt x="1196762" y="41431"/>
                    <a:pt x="1205848" y="63366"/>
                    <a:pt x="1205848" y="86238"/>
                  </a:cubicBezTo>
                  <a:lnTo>
                    <a:pt x="1205848" y="319294"/>
                  </a:lnTo>
                  <a:cubicBezTo>
                    <a:pt x="1205848" y="366922"/>
                    <a:pt x="1167237" y="405532"/>
                    <a:pt x="1119609" y="405532"/>
                  </a:cubicBezTo>
                  <a:lnTo>
                    <a:pt x="86238" y="405532"/>
                  </a:lnTo>
                  <a:cubicBezTo>
                    <a:pt x="63366" y="405532"/>
                    <a:pt x="41431" y="396446"/>
                    <a:pt x="25259" y="380274"/>
                  </a:cubicBezTo>
                  <a:cubicBezTo>
                    <a:pt x="9086" y="364101"/>
                    <a:pt x="0" y="342166"/>
                    <a:pt x="0" y="319294"/>
                  </a:cubicBezTo>
                  <a:lnTo>
                    <a:pt x="0" y="86238"/>
                  </a:lnTo>
                  <a:cubicBezTo>
                    <a:pt x="0" y="63366"/>
                    <a:pt x="9086" y="41431"/>
                    <a:pt x="25259" y="25259"/>
                  </a:cubicBezTo>
                  <a:cubicBezTo>
                    <a:pt x="41431" y="9086"/>
                    <a:pt x="63366" y="0"/>
                    <a:pt x="86238" y="0"/>
                  </a:cubicBezTo>
                  <a:close/>
                </a:path>
              </a:pathLst>
            </a:custGeom>
            <a:solidFill>
              <a:srgbClr val="E9EFEB"/>
            </a:solidFill>
            <a:ln w="38100" cap="rnd">
              <a:solidFill>
                <a:srgbClr val="FFD23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205848" cy="443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84125" y="7363356"/>
            <a:ext cx="4414962" cy="1117704"/>
            <a:chOff x="0" y="0"/>
            <a:chExt cx="1162788" cy="2943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62788" cy="294375"/>
            </a:xfrm>
            <a:custGeom>
              <a:avLst/>
              <a:gdLst/>
              <a:ahLst/>
              <a:cxnLst/>
              <a:rect r="r" b="b" t="t" l="l"/>
              <a:pathLst>
                <a:path h="294375" w="1162788">
                  <a:moveTo>
                    <a:pt x="89432" y="0"/>
                  </a:moveTo>
                  <a:lnTo>
                    <a:pt x="1073357" y="0"/>
                  </a:lnTo>
                  <a:cubicBezTo>
                    <a:pt x="1097075" y="0"/>
                    <a:pt x="1119823" y="9422"/>
                    <a:pt x="1136594" y="26194"/>
                  </a:cubicBezTo>
                  <a:cubicBezTo>
                    <a:pt x="1153366" y="42966"/>
                    <a:pt x="1162788" y="65713"/>
                    <a:pt x="1162788" y="89432"/>
                  </a:cubicBezTo>
                  <a:lnTo>
                    <a:pt x="1162788" y="204943"/>
                  </a:lnTo>
                  <a:cubicBezTo>
                    <a:pt x="1162788" y="228662"/>
                    <a:pt x="1153366" y="251409"/>
                    <a:pt x="1136594" y="268181"/>
                  </a:cubicBezTo>
                  <a:cubicBezTo>
                    <a:pt x="1119823" y="284952"/>
                    <a:pt x="1097075" y="294375"/>
                    <a:pt x="1073357" y="294375"/>
                  </a:cubicBezTo>
                  <a:lnTo>
                    <a:pt x="89432" y="294375"/>
                  </a:lnTo>
                  <a:cubicBezTo>
                    <a:pt x="65713" y="294375"/>
                    <a:pt x="42966" y="284952"/>
                    <a:pt x="26194" y="268181"/>
                  </a:cubicBezTo>
                  <a:cubicBezTo>
                    <a:pt x="9422" y="251409"/>
                    <a:pt x="0" y="228662"/>
                    <a:pt x="0" y="204943"/>
                  </a:cubicBezTo>
                  <a:lnTo>
                    <a:pt x="0" y="89432"/>
                  </a:lnTo>
                  <a:cubicBezTo>
                    <a:pt x="0" y="65713"/>
                    <a:pt x="9422" y="42966"/>
                    <a:pt x="26194" y="26194"/>
                  </a:cubicBezTo>
                  <a:cubicBezTo>
                    <a:pt x="42966" y="9422"/>
                    <a:pt x="65713" y="0"/>
                    <a:pt x="89432" y="0"/>
                  </a:cubicBezTo>
                  <a:close/>
                </a:path>
              </a:pathLst>
            </a:custGeom>
            <a:solidFill>
              <a:srgbClr val="E9EFEB"/>
            </a:solidFill>
            <a:ln w="38100" cap="rnd">
              <a:solidFill>
                <a:srgbClr val="FFD23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162788" cy="332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757268" y="7064910"/>
            <a:ext cx="4598602" cy="1300998"/>
            <a:chOff x="0" y="0"/>
            <a:chExt cx="1211154" cy="3426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11154" cy="342650"/>
            </a:xfrm>
            <a:custGeom>
              <a:avLst/>
              <a:gdLst/>
              <a:ahLst/>
              <a:cxnLst/>
              <a:rect r="r" b="b" t="t" l="l"/>
              <a:pathLst>
                <a:path h="342650" w="1211154">
                  <a:moveTo>
                    <a:pt x="85860" y="0"/>
                  </a:moveTo>
                  <a:lnTo>
                    <a:pt x="1125294" y="0"/>
                  </a:lnTo>
                  <a:cubicBezTo>
                    <a:pt x="1148066" y="0"/>
                    <a:pt x="1169904" y="9046"/>
                    <a:pt x="1186006" y="25148"/>
                  </a:cubicBezTo>
                  <a:cubicBezTo>
                    <a:pt x="1202108" y="41250"/>
                    <a:pt x="1211154" y="63089"/>
                    <a:pt x="1211154" y="85860"/>
                  </a:cubicBezTo>
                  <a:lnTo>
                    <a:pt x="1211154" y="256789"/>
                  </a:lnTo>
                  <a:cubicBezTo>
                    <a:pt x="1211154" y="279561"/>
                    <a:pt x="1202108" y="301400"/>
                    <a:pt x="1186006" y="317502"/>
                  </a:cubicBezTo>
                  <a:cubicBezTo>
                    <a:pt x="1169904" y="333604"/>
                    <a:pt x="1148066" y="342650"/>
                    <a:pt x="1125294" y="342650"/>
                  </a:cubicBezTo>
                  <a:lnTo>
                    <a:pt x="85860" y="342650"/>
                  </a:lnTo>
                  <a:cubicBezTo>
                    <a:pt x="63089" y="342650"/>
                    <a:pt x="41250" y="333604"/>
                    <a:pt x="25148" y="317502"/>
                  </a:cubicBezTo>
                  <a:cubicBezTo>
                    <a:pt x="9046" y="301400"/>
                    <a:pt x="0" y="279561"/>
                    <a:pt x="0" y="256789"/>
                  </a:cubicBezTo>
                  <a:lnTo>
                    <a:pt x="0" y="85860"/>
                  </a:lnTo>
                  <a:cubicBezTo>
                    <a:pt x="0" y="63089"/>
                    <a:pt x="9046" y="41250"/>
                    <a:pt x="25148" y="25148"/>
                  </a:cubicBezTo>
                  <a:cubicBezTo>
                    <a:pt x="41250" y="9046"/>
                    <a:pt x="63089" y="0"/>
                    <a:pt x="85860" y="0"/>
                  </a:cubicBezTo>
                  <a:close/>
                </a:path>
              </a:pathLst>
            </a:custGeom>
            <a:solidFill>
              <a:srgbClr val="E9EFEB"/>
            </a:solidFill>
            <a:ln w="38100" cap="rnd">
              <a:solidFill>
                <a:srgbClr val="FFD23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11154" cy="38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10800000">
            <a:off x="8947461" y="4534421"/>
            <a:ext cx="702113" cy="774489"/>
            <a:chOff x="0" y="0"/>
            <a:chExt cx="717682" cy="79166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7682" cy="791663"/>
            </a:xfrm>
            <a:custGeom>
              <a:avLst/>
              <a:gdLst/>
              <a:ahLst/>
              <a:cxnLst/>
              <a:rect r="r" b="b" t="t" l="l"/>
              <a:pathLst>
                <a:path h="791663" w="717682">
                  <a:moveTo>
                    <a:pt x="358841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791663"/>
                  </a:lnTo>
                  <a:lnTo>
                    <a:pt x="514482" y="791663"/>
                  </a:lnTo>
                  <a:lnTo>
                    <a:pt x="514482" y="406400"/>
                  </a:lnTo>
                  <a:lnTo>
                    <a:pt x="717682" y="406400"/>
                  </a:lnTo>
                  <a:lnTo>
                    <a:pt x="358841" y="0"/>
                  </a:lnTo>
                  <a:close/>
                </a:path>
              </a:pathLst>
            </a:custGeom>
            <a:solidFill>
              <a:srgbClr val="01B695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203200" y="63500"/>
              <a:ext cx="311282" cy="728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4676912">
            <a:off x="5706373" y="5296801"/>
            <a:ext cx="702113" cy="774489"/>
            <a:chOff x="0" y="0"/>
            <a:chExt cx="717682" cy="79166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7682" cy="791663"/>
            </a:xfrm>
            <a:custGeom>
              <a:avLst/>
              <a:gdLst/>
              <a:ahLst/>
              <a:cxnLst/>
              <a:rect r="r" b="b" t="t" l="l"/>
              <a:pathLst>
                <a:path h="791663" w="717682">
                  <a:moveTo>
                    <a:pt x="358841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791663"/>
                  </a:lnTo>
                  <a:lnTo>
                    <a:pt x="514482" y="791663"/>
                  </a:lnTo>
                  <a:lnTo>
                    <a:pt x="514482" y="406400"/>
                  </a:lnTo>
                  <a:lnTo>
                    <a:pt x="717682" y="406400"/>
                  </a:lnTo>
                  <a:lnTo>
                    <a:pt x="358841" y="0"/>
                  </a:lnTo>
                  <a:close/>
                </a:path>
              </a:pathLst>
            </a:custGeom>
            <a:solidFill>
              <a:srgbClr val="01B695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203200" y="63500"/>
              <a:ext cx="311282" cy="728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7069672">
            <a:off x="5760707" y="7168896"/>
            <a:ext cx="702113" cy="774489"/>
            <a:chOff x="0" y="0"/>
            <a:chExt cx="717682" cy="79166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7682" cy="791663"/>
            </a:xfrm>
            <a:custGeom>
              <a:avLst/>
              <a:gdLst/>
              <a:ahLst/>
              <a:cxnLst/>
              <a:rect r="r" b="b" t="t" l="l"/>
              <a:pathLst>
                <a:path h="791663" w="717682">
                  <a:moveTo>
                    <a:pt x="358841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791663"/>
                  </a:lnTo>
                  <a:lnTo>
                    <a:pt x="514482" y="791663"/>
                  </a:lnTo>
                  <a:lnTo>
                    <a:pt x="514482" y="406400"/>
                  </a:lnTo>
                  <a:lnTo>
                    <a:pt x="717682" y="406400"/>
                  </a:lnTo>
                  <a:lnTo>
                    <a:pt x="358841" y="0"/>
                  </a:lnTo>
                  <a:close/>
                </a:path>
              </a:pathLst>
            </a:custGeom>
            <a:solidFill>
              <a:srgbClr val="01B695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203200" y="63500"/>
              <a:ext cx="311282" cy="728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7453052">
            <a:off x="11843310" y="6809492"/>
            <a:ext cx="702113" cy="774489"/>
            <a:chOff x="0" y="0"/>
            <a:chExt cx="717682" cy="79166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17682" cy="791663"/>
            </a:xfrm>
            <a:custGeom>
              <a:avLst/>
              <a:gdLst/>
              <a:ahLst/>
              <a:cxnLst/>
              <a:rect r="r" b="b" t="t" l="l"/>
              <a:pathLst>
                <a:path h="791663" w="717682">
                  <a:moveTo>
                    <a:pt x="358841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791663"/>
                  </a:lnTo>
                  <a:lnTo>
                    <a:pt x="514482" y="791663"/>
                  </a:lnTo>
                  <a:lnTo>
                    <a:pt x="514482" y="406400"/>
                  </a:lnTo>
                  <a:lnTo>
                    <a:pt x="717682" y="406400"/>
                  </a:lnTo>
                  <a:lnTo>
                    <a:pt x="358841" y="0"/>
                  </a:lnTo>
                  <a:close/>
                </a:path>
              </a:pathLst>
            </a:custGeom>
            <a:solidFill>
              <a:srgbClr val="01B695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203200" y="63500"/>
              <a:ext cx="311282" cy="728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4618388">
            <a:off x="11865291" y="5239189"/>
            <a:ext cx="702113" cy="774489"/>
            <a:chOff x="0" y="0"/>
            <a:chExt cx="717682" cy="79166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17682" cy="791663"/>
            </a:xfrm>
            <a:custGeom>
              <a:avLst/>
              <a:gdLst/>
              <a:ahLst/>
              <a:cxnLst/>
              <a:rect r="r" b="b" t="t" l="l"/>
              <a:pathLst>
                <a:path h="791663" w="717682">
                  <a:moveTo>
                    <a:pt x="358841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791663"/>
                  </a:lnTo>
                  <a:lnTo>
                    <a:pt x="514482" y="791663"/>
                  </a:lnTo>
                  <a:lnTo>
                    <a:pt x="514482" y="406400"/>
                  </a:lnTo>
                  <a:lnTo>
                    <a:pt x="717682" y="406400"/>
                  </a:lnTo>
                  <a:lnTo>
                    <a:pt x="358841" y="0"/>
                  </a:lnTo>
                  <a:close/>
                </a:path>
              </a:pathLst>
            </a:custGeom>
            <a:solidFill>
              <a:srgbClr val="01B695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203200" y="63500"/>
              <a:ext cx="311282" cy="728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5878771" y="498902"/>
            <a:ext cx="6530459" cy="136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Arqu</a:t>
            </a:r>
            <a:r>
              <a:rPr lang="en-US" b="true" sz="8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itectura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771071" y="2896229"/>
            <a:ext cx="4745858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Arquitectura por Capas estructurada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947531" y="5683451"/>
            <a:ext cx="4325364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El patrón Modelo-Vista-Controlador (MVC)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84125" y="4909345"/>
            <a:ext cx="4162921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Frontend:</a:t>
            </a: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Flutter (Framework) y Dart (Lenguaje)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297948" y="5159023"/>
            <a:ext cx="3555748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Backend: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Firebase (Plataforma Serverless)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58649" y="7695828"/>
            <a:ext cx="355445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Base de datos: 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restore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861010" y="7403841"/>
            <a:ext cx="4518674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Servicios Externos: 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Goo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gle Maps API</a:t>
            </a:r>
          </a:p>
        </p:txBody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73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4172" y="254455"/>
            <a:ext cx="17761173" cy="9772760"/>
            <a:chOff x="0" y="0"/>
            <a:chExt cx="4677840" cy="25738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77840" cy="2573896"/>
            </a:xfrm>
            <a:custGeom>
              <a:avLst/>
              <a:gdLst/>
              <a:ahLst/>
              <a:cxnLst/>
              <a:rect r="r" b="b" t="t" l="l"/>
              <a:pathLst>
                <a:path h="2573896" w="4677840">
                  <a:moveTo>
                    <a:pt x="22230" y="0"/>
                  </a:moveTo>
                  <a:lnTo>
                    <a:pt x="4655609" y="0"/>
                  </a:lnTo>
                  <a:cubicBezTo>
                    <a:pt x="4661505" y="0"/>
                    <a:pt x="4667160" y="2342"/>
                    <a:pt x="4671328" y="6511"/>
                  </a:cubicBezTo>
                  <a:cubicBezTo>
                    <a:pt x="4675498" y="10680"/>
                    <a:pt x="4677840" y="16335"/>
                    <a:pt x="4677840" y="22230"/>
                  </a:cubicBezTo>
                  <a:lnTo>
                    <a:pt x="4677840" y="2551665"/>
                  </a:lnTo>
                  <a:cubicBezTo>
                    <a:pt x="4677840" y="2557561"/>
                    <a:pt x="4675498" y="2563215"/>
                    <a:pt x="4671328" y="2567385"/>
                  </a:cubicBezTo>
                  <a:cubicBezTo>
                    <a:pt x="4667160" y="2571554"/>
                    <a:pt x="4661505" y="2573896"/>
                    <a:pt x="4655609" y="2573896"/>
                  </a:cubicBezTo>
                  <a:lnTo>
                    <a:pt x="22230" y="2573896"/>
                  </a:lnTo>
                  <a:cubicBezTo>
                    <a:pt x="16335" y="2573896"/>
                    <a:pt x="10680" y="2571554"/>
                    <a:pt x="6511" y="2567385"/>
                  </a:cubicBezTo>
                  <a:cubicBezTo>
                    <a:pt x="2342" y="2563215"/>
                    <a:pt x="0" y="2557561"/>
                    <a:pt x="0" y="2551665"/>
                  </a:cubicBezTo>
                  <a:lnTo>
                    <a:pt x="0" y="22230"/>
                  </a:lnTo>
                  <a:cubicBezTo>
                    <a:pt x="0" y="16335"/>
                    <a:pt x="2342" y="10680"/>
                    <a:pt x="6511" y="6511"/>
                  </a:cubicBezTo>
                  <a:cubicBezTo>
                    <a:pt x="10680" y="2342"/>
                    <a:pt x="16335" y="0"/>
                    <a:pt x="222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77840" cy="2611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304163" y="42663"/>
            <a:ext cx="1910275" cy="821418"/>
          </a:xfrm>
          <a:custGeom>
            <a:avLst/>
            <a:gdLst/>
            <a:ahLst/>
            <a:cxnLst/>
            <a:rect r="r" b="b" t="t" l="l"/>
            <a:pathLst>
              <a:path h="821418" w="1910275">
                <a:moveTo>
                  <a:pt x="0" y="0"/>
                </a:moveTo>
                <a:lnTo>
                  <a:pt x="1910274" y="0"/>
                </a:lnTo>
                <a:lnTo>
                  <a:pt x="1910274" y="821418"/>
                </a:lnTo>
                <a:lnTo>
                  <a:pt x="0" y="821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476383" y="453372"/>
            <a:ext cx="7335234" cy="909766"/>
            <a:chOff x="0" y="0"/>
            <a:chExt cx="1931913" cy="2396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31913" cy="239609"/>
            </a:xfrm>
            <a:custGeom>
              <a:avLst/>
              <a:gdLst/>
              <a:ahLst/>
              <a:cxnLst/>
              <a:rect r="r" b="b" t="t" l="l"/>
              <a:pathLst>
                <a:path h="239609" w="1931913">
                  <a:moveTo>
                    <a:pt x="1728713" y="0"/>
                  </a:moveTo>
                  <a:cubicBezTo>
                    <a:pt x="1840938" y="0"/>
                    <a:pt x="1931913" y="53638"/>
                    <a:pt x="1931913" y="119805"/>
                  </a:cubicBezTo>
                  <a:cubicBezTo>
                    <a:pt x="1931913" y="185971"/>
                    <a:pt x="1840938" y="239609"/>
                    <a:pt x="1728713" y="239609"/>
                  </a:cubicBezTo>
                  <a:lnTo>
                    <a:pt x="203200" y="239609"/>
                  </a:lnTo>
                  <a:cubicBezTo>
                    <a:pt x="90976" y="239609"/>
                    <a:pt x="0" y="185971"/>
                    <a:pt x="0" y="119805"/>
                  </a:cubicBezTo>
                  <a:cubicBezTo>
                    <a:pt x="0" y="5363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FEB"/>
            </a:solidFill>
            <a:ln w="38100" cap="sq">
              <a:solidFill>
                <a:srgbClr val="FFD23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31913" cy="277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817582" y="1473061"/>
            <a:ext cx="14648174" cy="8153229"/>
            <a:chOff x="0" y="0"/>
            <a:chExt cx="13462000" cy="7493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80160" y="402590"/>
              <a:ext cx="10581640" cy="5863590"/>
            </a:xfrm>
            <a:custGeom>
              <a:avLst/>
              <a:gdLst/>
              <a:ahLst/>
              <a:cxnLst/>
              <a:rect r="r" b="b" t="t" l="l"/>
              <a:pathLst>
                <a:path h="5863590" w="10581640">
                  <a:moveTo>
                    <a:pt x="0" y="0"/>
                  </a:moveTo>
                  <a:lnTo>
                    <a:pt x="10581640" y="0"/>
                  </a:lnTo>
                  <a:lnTo>
                    <a:pt x="10581640" y="5863590"/>
                  </a:lnTo>
                  <a:lnTo>
                    <a:pt x="0" y="5863590"/>
                  </a:lnTo>
                  <a:close/>
                </a:path>
              </a:pathLst>
            </a:custGeom>
            <a:blipFill>
              <a:blip r:embed="rId4"/>
              <a:stretch>
                <a:fillRect l="0" t="-54" r="0" b="-616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62000" cy="7493000"/>
            </a:xfrm>
            <a:custGeom>
              <a:avLst/>
              <a:gdLst/>
              <a:ahLst/>
              <a:cxnLst/>
              <a:rect r="r" b="b" t="t" l="l"/>
              <a:pathLst>
                <a:path h="7493000" w="13462000">
                  <a:moveTo>
                    <a:pt x="0" y="0"/>
                  </a:moveTo>
                  <a:lnTo>
                    <a:pt x="13462000" y="0"/>
                  </a:lnTo>
                  <a:lnTo>
                    <a:pt x="13462000" y="7493000"/>
                  </a:lnTo>
                  <a:lnTo>
                    <a:pt x="0" y="7493000"/>
                  </a:lnTo>
                  <a:close/>
                </a:path>
              </a:pathLst>
            </a:custGeom>
          </p:spPr>
        </p:sp>
      </p:grpSp>
      <p:sp>
        <p:nvSpPr>
          <p:cNvPr name="Freeform 12" id="12"/>
          <p:cNvSpPr/>
          <p:nvPr/>
        </p:nvSpPr>
        <p:spPr>
          <a:xfrm flipH="false" flipV="false" rot="-1010540">
            <a:off x="16134612" y="7031553"/>
            <a:ext cx="662288" cy="1042973"/>
          </a:xfrm>
          <a:custGeom>
            <a:avLst/>
            <a:gdLst/>
            <a:ahLst/>
            <a:cxnLst/>
            <a:rect r="r" b="b" t="t" l="l"/>
            <a:pathLst>
              <a:path h="1042973" w="662288">
                <a:moveTo>
                  <a:pt x="0" y="0"/>
                </a:moveTo>
                <a:lnTo>
                  <a:pt x="662288" y="0"/>
                </a:lnTo>
                <a:lnTo>
                  <a:pt x="662288" y="1042972"/>
                </a:lnTo>
                <a:lnTo>
                  <a:pt x="0" y="10429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846307" y="544391"/>
            <a:ext cx="4595385" cy="651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1"/>
              </a:lnSpc>
            </a:pPr>
            <a:r>
              <a:rPr lang="en-US" sz="379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Demo Tu Recorrido</a:t>
            </a:r>
          </a:p>
        </p:txBody>
      </p: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73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5411" y="500546"/>
            <a:ext cx="16832836" cy="9285909"/>
            <a:chOff x="0" y="0"/>
            <a:chExt cx="4433340" cy="2445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33339" cy="2445671"/>
            </a:xfrm>
            <a:custGeom>
              <a:avLst/>
              <a:gdLst/>
              <a:ahLst/>
              <a:cxnLst/>
              <a:rect r="r" b="b" t="t" l="l"/>
              <a:pathLst>
                <a:path h="2445671" w="4433339">
                  <a:moveTo>
                    <a:pt x="23456" y="0"/>
                  </a:moveTo>
                  <a:lnTo>
                    <a:pt x="4409883" y="0"/>
                  </a:lnTo>
                  <a:cubicBezTo>
                    <a:pt x="4422838" y="0"/>
                    <a:pt x="4433339" y="10502"/>
                    <a:pt x="4433339" y="23456"/>
                  </a:cubicBezTo>
                  <a:lnTo>
                    <a:pt x="4433339" y="2422215"/>
                  </a:lnTo>
                  <a:cubicBezTo>
                    <a:pt x="4433339" y="2435170"/>
                    <a:pt x="4422838" y="2445671"/>
                    <a:pt x="4409883" y="2445671"/>
                  </a:cubicBezTo>
                  <a:lnTo>
                    <a:pt x="23456" y="2445671"/>
                  </a:lnTo>
                  <a:cubicBezTo>
                    <a:pt x="10502" y="2445671"/>
                    <a:pt x="0" y="2435170"/>
                    <a:pt x="0" y="2422215"/>
                  </a:cubicBezTo>
                  <a:lnTo>
                    <a:pt x="0" y="23456"/>
                  </a:lnTo>
                  <a:cubicBezTo>
                    <a:pt x="0" y="10502"/>
                    <a:pt x="10502" y="0"/>
                    <a:pt x="2345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33340" cy="2483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61110" y="3811734"/>
            <a:ext cx="3586876" cy="3435274"/>
            <a:chOff x="0" y="0"/>
            <a:chExt cx="944692" cy="9047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4692" cy="904763"/>
            </a:xfrm>
            <a:custGeom>
              <a:avLst/>
              <a:gdLst/>
              <a:ahLst/>
              <a:cxnLst/>
              <a:rect r="r" b="b" t="t" l="l"/>
              <a:pathLst>
                <a:path h="904763" w="944692">
                  <a:moveTo>
                    <a:pt x="110079" y="0"/>
                  </a:moveTo>
                  <a:lnTo>
                    <a:pt x="834613" y="0"/>
                  </a:lnTo>
                  <a:cubicBezTo>
                    <a:pt x="895408" y="0"/>
                    <a:pt x="944692" y="49284"/>
                    <a:pt x="944692" y="110079"/>
                  </a:cubicBezTo>
                  <a:lnTo>
                    <a:pt x="944692" y="794685"/>
                  </a:lnTo>
                  <a:cubicBezTo>
                    <a:pt x="944692" y="823880"/>
                    <a:pt x="933094" y="851879"/>
                    <a:pt x="912450" y="872522"/>
                  </a:cubicBezTo>
                  <a:cubicBezTo>
                    <a:pt x="891807" y="893166"/>
                    <a:pt x="863808" y="904763"/>
                    <a:pt x="834613" y="904763"/>
                  </a:cubicBezTo>
                  <a:lnTo>
                    <a:pt x="110079" y="904763"/>
                  </a:lnTo>
                  <a:cubicBezTo>
                    <a:pt x="49284" y="904763"/>
                    <a:pt x="0" y="855480"/>
                    <a:pt x="0" y="794685"/>
                  </a:cubicBezTo>
                  <a:lnTo>
                    <a:pt x="0" y="110079"/>
                  </a:lnTo>
                  <a:cubicBezTo>
                    <a:pt x="0" y="49284"/>
                    <a:pt x="49284" y="0"/>
                    <a:pt x="110079" y="0"/>
                  </a:cubicBezTo>
                  <a:close/>
                </a:path>
              </a:pathLst>
            </a:custGeom>
            <a:solidFill>
              <a:srgbClr val="E9EFEB"/>
            </a:solidFill>
            <a:ln w="66675" cap="rnd">
              <a:solidFill>
                <a:srgbClr val="FFD23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944692" cy="980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43286" y="3811734"/>
            <a:ext cx="3638608" cy="3331031"/>
            <a:chOff x="0" y="0"/>
            <a:chExt cx="958316" cy="8773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8316" cy="877308"/>
            </a:xfrm>
            <a:custGeom>
              <a:avLst/>
              <a:gdLst/>
              <a:ahLst/>
              <a:cxnLst/>
              <a:rect r="r" b="b" t="t" l="l"/>
              <a:pathLst>
                <a:path h="877308" w="958316">
                  <a:moveTo>
                    <a:pt x="108513" y="0"/>
                  </a:moveTo>
                  <a:lnTo>
                    <a:pt x="849803" y="0"/>
                  </a:lnTo>
                  <a:cubicBezTo>
                    <a:pt x="909733" y="0"/>
                    <a:pt x="958316" y="48583"/>
                    <a:pt x="958316" y="108513"/>
                  </a:cubicBezTo>
                  <a:lnTo>
                    <a:pt x="958316" y="768795"/>
                  </a:lnTo>
                  <a:cubicBezTo>
                    <a:pt x="958316" y="828725"/>
                    <a:pt x="909733" y="877308"/>
                    <a:pt x="849803" y="877308"/>
                  </a:cubicBezTo>
                  <a:lnTo>
                    <a:pt x="108513" y="877308"/>
                  </a:lnTo>
                  <a:cubicBezTo>
                    <a:pt x="48583" y="877308"/>
                    <a:pt x="0" y="828725"/>
                    <a:pt x="0" y="768795"/>
                  </a:cubicBezTo>
                  <a:lnTo>
                    <a:pt x="0" y="108513"/>
                  </a:lnTo>
                  <a:cubicBezTo>
                    <a:pt x="0" y="48583"/>
                    <a:pt x="48583" y="0"/>
                    <a:pt x="108513" y="0"/>
                  </a:cubicBezTo>
                  <a:close/>
                </a:path>
              </a:pathLst>
            </a:custGeom>
            <a:solidFill>
              <a:srgbClr val="E9EFEB"/>
            </a:solidFill>
            <a:ln w="66675" cap="rnd">
              <a:solidFill>
                <a:srgbClr val="FFD23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958316" cy="953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74806" y="3745149"/>
            <a:ext cx="3774968" cy="3331031"/>
            <a:chOff x="0" y="0"/>
            <a:chExt cx="994230" cy="8773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94230" cy="877308"/>
            </a:xfrm>
            <a:custGeom>
              <a:avLst/>
              <a:gdLst/>
              <a:ahLst/>
              <a:cxnLst/>
              <a:rect r="r" b="b" t="t" l="l"/>
              <a:pathLst>
                <a:path h="877308" w="994230">
                  <a:moveTo>
                    <a:pt x="104594" y="0"/>
                  </a:moveTo>
                  <a:lnTo>
                    <a:pt x="889636" y="0"/>
                  </a:lnTo>
                  <a:cubicBezTo>
                    <a:pt x="917376" y="0"/>
                    <a:pt x="943980" y="11020"/>
                    <a:pt x="963595" y="30635"/>
                  </a:cubicBezTo>
                  <a:cubicBezTo>
                    <a:pt x="983210" y="50250"/>
                    <a:pt x="994230" y="76854"/>
                    <a:pt x="994230" y="104594"/>
                  </a:cubicBezTo>
                  <a:lnTo>
                    <a:pt x="994230" y="772715"/>
                  </a:lnTo>
                  <a:cubicBezTo>
                    <a:pt x="994230" y="800455"/>
                    <a:pt x="983210" y="827059"/>
                    <a:pt x="963595" y="846674"/>
                  </a:cubicBezTo>
                  <a:cubicBezTo>
                    <a:pt x="943980" y="866289"/>
                    <a:pt x="917376" y="877308"/>
                    <a:pt x="889636" y="877308"/>
                  </a:cubicBezTo>
                  <a:lnTo>
                    <a:pt x="104594" y="877308"/>
                  </a:lnTo>
                  <a:cubicBezTo>
                    <a:pt x="76854" y="877308"/>
                    <a:pt x="50250" y="866289"/>
                    <a:pt x="30635" y="846674"/>
                  </a:cubicBezTo>
                  <a:cubicBezTo>
                    <a:pt x="11020" y="827059"/>
                    <a:pt x="0" y="800455"/>
                    <a:pt x="0" y="772715"/>
                  </a:cubicBezTo>
                  <a:lnTo>
                    <a:pt x="0" y="104594"/>
                  </a:lnTo>
                  <a:cubicBezTo>
                    <a:pt x="0" y="76854"/>
                    <a:pt x="11020" y="50250"/>
                    <a:pt x="30635" y="30635"/>
                  </a:cubicBezTo>
                  <a:cubicBezTo>
                    <a:pt x="50250" y="11020"/>
                    <a:pt x="76854" y="0"/>
                    <a:pt x="104594" y="0"/>
                  </a:cubicBezTo>
                  <a:close/>
                </a:path>
              </a:pathLst>
            </a:custGeom>
            <a:solidFill>
              <a:srgbClr val="E9EFEB"/>
            </a:solidFill>
            <a:ln w="66675" cap="rnd">
              <a:solidFill>
                <a:srgbClr val="FFD23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994230" cy="953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449823" y="3689269"/>
            <a:ext cx="3606578" cy="3331031"/>
            <a:chOff x="0" y="0"/>
            <a:chExt cx="949881" cy="8773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9881" cy="877308"/>
            </a:xfrm>
            <a:custGeom>
              <a:avLst/>
              <a:gdLst/>
              <a:ahLst/>
              <a:cxnLst/>
              <a:rect r="r" b="b" t="t" l="l"/>
              <a:pathLst>
                <a:path h="877308" w="949881">
                  <a:moveTo>
                    <a:pt x="109477" y="0"/>
                  </a:moveTo>
                  <a:lnTo>
                    <a:pt x="840403" y="0"/>
                  </a:lnTo>
                  <a:cubicBezTo>
                    <a:pt x="869439" y="0"/>
                    <a:pt x="897284" y="11534"/>
                    <a:pt x="917815" y="32065"/>
                  </a:cubicBezTo>
                  <a:cubicBezTo>
                    <a:pt x="938346" y="52596"/>
                    <a:pt x="949881" y="80442"/>
                    <a:pt x="949881" y="109477"/>
                  </a:cubicBezTo>
                  <a:lnTo>
                    <a:pt x="949881" y="767831"/>
                  </a:lnTo>
                  <a:cubicBezTo>
                    <a:pt x="949881" y="796866"/>
                    <a:pt x="938346" y="824712"/>
                    <a:pt x="917815" y="845243"/>
                  </a:cubicBezTo>
                  <a:cubicBezTo>
                    <a:pt x="897284" y="865774"/>
                    <a:pt x="869439" y="877308"/>
                    <a:pt x="840403" y="877308"/>
                  </a:cubicBezTo>
                  <a:lnTo>
                    <a:pt x="109477" y="877308"/>
                  </a:lnTo>
                  <a:cubicBezTo>
                    <a:pt x="49015" y="877308"/>
                    <a:pt x="0" y="828294"/>
                    <a:pt x="0" y="767831"/>
                  </a:cubicBezTo>
                  <a:lnTo>
                    <a:pt x="0" y="109477"/>
                  </a:lnTo>
                  <a:cubicBezTo>
                    <a:pt x="0" y="80442"/>
                    <a:pt x="11534" y="52596"/>
                    <a:pt x="32065" y="32065"/>
                  </a:cubicBezTo>
                  <a:cubicBezTo>
                    <a:pt x="52596" y="11534"/>
                    <a:pt x="80442" y="0"/>
                    <a:pt x="109477" y="0"/>
                  </a:cubicBezTo>
                  <a:close/>
                </a:path>
              </a:pathLst>
            </a:custGeom>
            <a:solidFill>
              <a:srgbClr val="E9EFEB"/>
            </a:solidFill>
            <a:ln w="66675" cap="rnd">
              <a:solidFill>
                <a:srgbClr val="FFD23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949881" cy="953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6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424484" y="7741482"/>
            <a:ext cx="948619" cy="883402"/>
          </a:xfrm>
          <a:custGeom>
            <a:avLst/>
            <a:gdLst/>
            <a:ahLst/>
            <a:cxnLst/>
            <a:rect r="r" b="b" t="t" l="l"/>
            <a:pathLst>
              <a:path h="883402" w="948619">
                <a:moveTo>
                  <a:pt x="0" y="0"/>
                </a:moveTo>
                <a:lnTo>
                  <a:pt x="948619" y="0"/>
                </a:lnTo>
                <a:lnTo>
                  <a:pt x="948619" y="883402"/>
                </a:lnTo>
                <a:lnTo>
                  <a:pt x="0" y="883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488280" y="7741482"/>
            <a:ext cx="948619" cy="883402"/>
          </a:xfrm>
          <a:custGeom>
            <a:avLst/>
            <a:gdLst/>
            <a:ahLst/>
            <a:cxnLst/>
            <a:rect r="r" b="b" t="t" l="l"/>
            <a:pathLst>
              <a:path h="883402" w="948619">
                <a:moveTo>
                  <a:pt x="0" y="0"/>
                </a:moveTo>
                <a:lnTo>
                  <a:pt x="948620" y="0"/>
                </a:lnTo>
                <a:lnTo>
                  <a:pt x="948620" y="883402"/>
                </a:lnTo>
                <a:lnTo>
                  <a:pt x="0" y="883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552077" y="7741482"/>
            <a:ext cx="948619" cy="883402"/>
          </a:xfrm>
          <a:custGeom>
            <a:avLst/>
            <a:gdLst/>
            <a:ahLst/>
            <a:cxnLst/>
            <a:rect r="r" b="b" t="t" l="l"/>
            <a:pathLst>
              <a:path h="883402" w="948619">
                <a:moveTo>
                  <a:pt x="0" y="0"/>
                </a:moveTo>
                <a:lnTo>
                  <a:pt x="948619" y="0"/>
                </a:lnTo>
                <a:lnTo>
                  <a:pt x="948619" y="883402"/>
                </a:lnTo>
                <a:lnTo>
                  <a:pt x="0" y="883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615873" y="7741482"/>
            <a:ext cx="948619" cy="883402"/>
          </a:xfrm>
          <a:custGeom>
            <a:avLst/>
            <a:gdLst/>
            <a:ahLst/>
            <a:cxnLst/>
            <a:rect r="r" b="b" t="t" l="l"/>
            <a:pathLst>
              <a:path h="883402" w="948619">
                <a:moveTo>
                  <a:pt x="0" y="0"/>
                </a:moveTo>
                <a:lnTo>
                  <a:pt x="948619" y="0"/>
                </a:lnTo>
                <a:lnTo>
                  <a:pt x="948619" y="883402"/>
                </a:lnTo>
                <a:lnTo>
                  <a:pt x="0" y="883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3751857" y="1028700"/>
            <a:ext cx="10479946" cy="1543050"/>
            <a:chOff x="0" y="0"/>
            <a:chExt cx="2760150" cy="406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60150" cy="406400"/>
            </a:xfrm>
            <a:custGeom>
              <a:avLst/>
              <a:gdLst/>
              <a:ahLst/>
              <a:cxnLst/>
              <a:rect r="r" b="b" t="t" l="l"/>
              <a:pathLst>
                <a:path h="406400" w="2760150">
                  <a:moveTo>
                    <a:pt x="2556950" y="0"/>
                  </a:moveTo>
                  <a:cubicBezTo>
                    <a:pt x="2669174" y="0"/>
                    <a:pt x="2760150" y="90976"/>
                    <a:pt x="2760150" y="203200"/>
                  </a:cubicBezTo>
                  <a:cubicBezTo>
                    <a:pt x="2760150" y="315424"/>
                    <a:pt x="2669174" y="406400"/>
                    <a:pt x="255695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FE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2760150" cy="48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6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080002" y="857250"/>
            <a:ext cx="638960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Conclusión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11498" y="4081519"/>
            <a:ext cx="3086100" cy="273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Implementación exitosa de todas las Épicas (Colección, Social y Gestión), de esta forma se Valida el MVP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419540" y="4081519"/>
            <a:ext cx="3086100" cy="273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priorización de una "Base Segura"  permitió soportar la complejidad del posterior "Ciclo de Valor".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39119" y="3933654"/>
            <a:ext cx="3610654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La resolución de fallos críticos derivó en nuevos estándares de calidad, incluyendo Technical Spikes preventivos y mayor integridad de datos.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06998" y="3878580"/>
            <a:ext cx="3086100" cy="249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Nuestro estado final es la e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ntrega de herramientas de Administración y de una  plataforma que es escalable y segura.</a:t>
            </a:r>
          </a:p>
        </p:txBody>
      </p:sp>
    </p:spTree>
  </p:cSld>
  <p:clrMapOvr>
    <a:masterClrMapping/>
  </p:clrMapOvr>
  <p:transition spd="slow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73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7877" y="465350"/>
            <a:ext cx="16832836" cy="9285909"/>
            <a:chOff x="0" y="0"/>
            <a:chExt cx="4433340" cy="2445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33339" cy="2445671"/>
            </a:xfrm>
            <a:custGeom>
              <a:avLst/>
              <a:gdLst/>
              <a:ahLst/>
              <a:cxnLst/>
              <a:rect r="r" b="b" t="t" l="l"/>
              <a:pathLst>
                <a:path h="2445671" w="4433339">
                  <a:moveTo>
                    <a:pt x="23456" y="0"/>
                  </a:moveTo>
                  <a:lnTo>
                    <a:pt x="4409883" y="0"/>
                  </a:lnTo>
                  <a:cubicBezTo>
                    <a:pt x="4422838" y="0"/>
                    <a:pt x="4433339" y="10502"/>
                    <a:pt x="4433339" y="23456"/>
                  </a:cubicBezTo>
                  <a:lnTo>
                    <a:pt x="4433339" y="2422215"/>
                  </a:lnTo>
                  <a:cubicBezTo>
                    <a:pt x="4433339" y="2435170"/>
                    <a:pt x="4422838" y="2445671"/>
                    <a:pt x="4409883" y="2445671"/>
                  </a:cubicBezTo>
                  <a:lnTo>
                    <a:pt x="23456" y="2445671"/>
                  </a:lnTo>
                  <a:cubicBezTo>
                    <a:pt x="10502" y="2445671"/>
                    <a:pt x="0" y="2435170"/>
                    <a:pt x="0" y="2422215"/>
                  </a:cubicBezTo>
                  <a:lnTo>
                    <a:pt x="0" y="23456"/>
                  </a:lnTo>
                  <a:cubicBezTo>
                    <a:pt x="0" y="10502"/>
                    <a:pt x="10502" y="0"/>
                    <a:pt x="2345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33340" cy="2483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488423" y="4336780"/>
            <a:ext cx="7892865" cy="1543050"/>
            <a:chOff x="0" y="0"/>
            <a:chExt cx="2078779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8779" cy="406400"/>
            </a:xfrm>
            <a:custGeom>
              <a:avLst/>
              <a:gdLst/>
              <a:ahLst/>
              <a:cxnLst/>
              <a:rect r="r" b="b" t="t" l="l"/>
              <a:pathLst>
                <a:path h="406400" w="2078779">
                  <a:moveTo>
                    <a:pt x="1875579" y="0"/>
                  </a:moveTo>
                  <a:cubicBezTo>
                    <a:pt x="1987803" y="0"/>
                    <a:pt x="2078779" y="90976"/>
                    <a:pt x="2078779" y="203200"/>
                  </a:cubicBezTo>
                  <a:cubicBezTo>
                    <a:pt x="2078779" y="315424"/>
                    <a:pt x="1987803" y="406400"/>
                    <a:pt x="187557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9EFE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078779" cy="48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36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81575" y="5636459"/>
            <a:ext cx="4089083" cy="4114800"/>
          </a:xfrm>
          <a:custGeom>
            <a:avLst/>
            <a:gdLst/>
            <a:ahLst/>
            <a:cxnLst/>
            <a:rect r="r" b="b" t="t" l="l"/>
            <a:pathLst>
              <a:path h="4114800" w="4089083">
                <a:moveTo>
                  <a:pt x="0" y="0"/>
                </a:moveTo>
                <a:lnTo>
                  <a:pt x="4089082" y="0"/>
                </a:lnTo>
                <a:lnTo>
                  <a:pt x="40890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279822" y="4651374"/>
            <a:ext cx="536686" cy="913862"/>
          </a:xfrm>
          <a:custGeom>
            <a:avLst/>
            <a:gdLst/>
            <a:ahLst/>
            <a:cxnLst/>
            <a:rect r="r" b="b" t="t" l="l"/>
            <a:pathLst>
              <a:path h="913862" w="536686">
                <a:moveTo>
                  <a:pt x="0" y="0"/>
                </a:moveTo>
                <a:lnTo>
                  <a:pt x="536686" y="0"/>
                </a:lnTo>
                <a:lnTo>
                  <a:pt x="536686" y="913861"/>
                </a:lnTo>
                <a:lnTo>
                  <a:pt x="0" y="9138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6328518" y="4626002"/>
            <a:ext cx="536686" cy="913862"/>
          </a:xfrm>
          <a:custGeom>
            <a:avLst/>
            <a:gdLst/>
            <a:ahLst/>
            <a:cxnLst/>
            <a:rect r="r" b="b" t="t" l="l"/>
            <a:pathLst>
              <a:path h="913862" w="536686">
                <a:moveTo>
                  <a:pt x="0" y="0"/>
                </a:moveTo>
                <a:lnTo>
                  <a:pt x="536686" y="0"/>
                </a:lnTo>
                <a:lnTo>
                  <a:pt x="536686" y="913862"/>
                </a:lnTo>
                <a:lnTo>
                  <a:pt x="0" y="913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251457" y="1519032"/>
            <a:ext cx="1436679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Gracias por su atención!!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27264" y="4197130"/>
            <a:ext cx="5090498" cy="134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31"/>
              </a:lnSpc>
            </a:pPr>
            <a:r>
              <a:rPr lang="en-US" sz="78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Preguntas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DAG6ONYLf4Q</dc:identifier>
  <dcterms:modified xsi:type="dcterms:W3CDTF">2011-08-01T06:04:30Z</dcterms:modified>
  <cp:revision>1</cp:revision>
  <dc:title>Presentación Plan de Marketing Minimalista Tipográfico Blanco y Negro </dc:title>
</cp:coreProperties>
</file>